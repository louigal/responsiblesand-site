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1D2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16" d="100"/>
          <a:sy n="116" d="100"/>
        </p:scale>
        <p:origin x="86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A38AD1-F592-6B45-B234-BF5FFA057312}" type="datetimeFigureOut">
              <a:rPr lang="en-IE" smtClean="0"/>
              <a:t>21/07/2026</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94262D-0A52-A447-9DBA-8592C84CB1EE}" type="slidenum">
              <a:rPr lang="en-IE" smtClean="0"/>
              <a:t>‹#›</a:t>
            </a:fld>
            <a:endParaRPr lang="en-IE"/>
          </a:p>
        </p:txBody>
      </p:sp>
    </p:spTree>
    <p:extLst>
      <p:ext uri="{BB962C8B-B14F-4D97-AF65-F5344CB8AC3E}">
        <p14:creationId xmlns:p14="http://schemas.microsoft.com/office/powerpoint/2010/main" val="1266619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kern="1200" dirty="0">
                <a:solidFill>
                  <a:schemeClr val="tx1"/>
                </a:solidFill>
                <a:effectLst/>
                <a:latin typeface="+mn-lt"/>
                <a:ea typeface="+mn-ea"/>
                <a:cs typeface="+mn-cs"/>
              </a:rPr>
              <a:t>Slide 3</a:t>
            </a:r>
            <a:r>
              <a:rPr lang="en-AU" sz="1200" kern="1200" dirty="0">
                <a:solidFill>
                  <a:schemeClr val="tx1"/>
                </a:solidFill>
                <a:effectLst/>
                <a:latin typeface="+mn-lt"/>
                <a:ea typeface="+mn-ea"/>
                <a:cs typeface="+mn-cs"/>
              </a:rPr>
              <a:t>   </a:t>
            </a:r>
            <a:r>
              <a:rPr lang="en-AU" sz="1200" b="1" kern="1200" dirty="0">
                <a:solidFill>
                  <a:schemeClr val="tx1"/>
                </a:solidFill>
                <a:effectLst/>
                <a:latin typeface="+mn-lt"/>
                <a:ea typeface="+mn-ea"/>
                <a:cs typeface="+mn-cs"/>
              </a:rPr>
              <a:t>Introducing the Coalition</a:t>
            </a:r>
            <a:endParaRPr lang="en-AU" sz="1200" kern="1200" dirty="0">
              <a:solidFill>
                <a:schemeClr val="tx1"/>
              </a:solidFill>
              <a:effectLst/>
              <a:latin typeface="+mn-lt"/>
              <a:ea typeface="+mn-ea"/>
              <a:cs typeface="+mn-cs"/>
            </a:endParaRPr>
          </a:p>
          <a:p>
            <a:r>
              <a:rPr lang="en-AU" sz="1200" b="1" i="1" kern="1200" dirty="0">
                <a:solidFill>
                  <a:schemeClr val="tx1"/>
                </a:solidFill>
                <a:effectLst/>
                <a:latin typeface="+mn-lt"/>
                <a:ea typeface="+mn-ea"/>
                <a:cs typeface="+mn-cs"/>
              </a:rPr>
              <a:t>On screen:  </a:t>
            </a:r>
            <a:r>
              <a:rPr lang="en-AU" sz="1200" i="1" kern="1200" dirty="0">
                <a:solidFill>
                  <a:schemeClr val="tx1"/>
                </a:solidFill>
                <a:effectLst/>
                <a:latin typeface="+mn-lt"/>
                <a:ea typeface="+mn-ea"/>
                <a:cs typeface="+mn-cs"/>
              </a:rPr>
              <a:t>Our Founders, and the wider circle of contributors.</a:t>
            </a:r>
            <a:endParaRPr lang="en-AU" sz="1200" kern="1200" dirty="0">
              <a:solidFill>
                <a:schemeClr val="tx1"/>
              </a:solidFill>
              <a:effectLst/>
              <a:latin typeface="+mn-lt"/>
              <a:ea typeface="+mn-ea"/>
              <a:cs typeface="+mn-cs"/>
            </a:endParaRPr>
          </a:p>
          <a:p>
            <a:r>
              <a:rPr lang="en-AU" sz="1200" kern="1200" dirty="0">
                <a:solidFill>
                  <a:schemeClr val="tx1"/>
                </a:solidFill>
                <a:effectLst/>
                <a:latin typeface="+mn-lt"/>
                <a:ea typeface="+mn-ea"/>
                <a:cs typeface="+mn-cs"/>
              </a:rPr>
              <a:t>The Coalition for Responsible Sand and Silicates is an independent multi-stakeholder platform, established in 2026 through the Global Centre for Mineral Security at the University of Queensland Sustainable Minerals Institute, with financial support from the Trailblazer programme, IKEA, Roca Group and MCS Group. We grew out of three years of, and out of the OECD's due diligence work on these materials. Our Founders run from global brands to industry, civil society and research. When you see a group this varied gathered around one topic, that is the signal in itself. If a furniture giant, a glassmaker, a builder and a conservation group all think this matters, it is worth a closer look.</a:t>
            </a:r>
            <a:endParaRPr lang="en-IE" dirty="0"/>
          </a:p>
          <a:p>
            <a:r>
              <a:rPr lang="en-AU" sz="1200" i="1" kern="1200" dirty="0">
                <a:solidFill>
                  <a:schemeClr val="tx1"/>
                </a:solidFill>
                <a:effectLst/>
                <a:latin typeface="+mn-lt"/>
                <a:ea typeface="+mn-ea"/>
                <a:cs typeface="+mn-cs"/>
              </a:rPr>
              <a:t> </a:t>
            </a:r>
            <a:endParaRPr lang="en-AU" sz="1200" kern="1200" dirty="0">
              <a:solidFill>
                <a:schemeClr val="tx1"/>
              </a:solidFill>
              <a:effectLst/>
              <a:latin typeface="+mn-lt"/>
              <a:ea typeface="+mn-ea"/>
              <a:cs typeface="+mn-cs"/>
            </a:endParaRPr>
          </a:p>
          <a:p>
            <a:r>
              <a:rPr lang="en-AU" sz="1200" kern="1200" dirty="0">
                <a:solidFill>
                  <a:schemeClr val="tx1"/>
                </a:solidFill>
                <a:effectLst/>
                <a:latin typeface="+mn-lt"/>
                <a:ea typeface="+mn-ea"/>
                <a:cs typeface="+mn-cs"/>
              </a:rPr>
              <a:t>This is our North Star, and it is as simple as it sounds: A future where these materials are sourced, used and produced responsibly. The catch is that nobody has really written down what responsible means for them yet. So part of what we are here to do is write that rulebook together, and to work out what good looks like.</a:t>
            </a:r>
          </a:p>
          <a:p>
            <a:endParaRPr lang="en-IE" dirty="0"/>
          </a:p>
        </p:txBody>
      </p:sp>
      <p:sp>
        <p:nvSpPr>
          <p:cNvPr id="4" name="Slide Number Placeholder 3"/>
          <p:cNvSpPr>
            <a:spLocks noGrp="1"/>
          </p:cNvSpPr>
          <p:nvPr>
            <p:ph type="sldNum" sz="quarter" idx="5"/>
          </p:nvPr>
        </p:nvSpPr>
        <p:spPr/>
        <p:txBody>
          <a:bodyPr/>
          <a:lstStyle/>
          <a:p>
            <a:fld id="{203EB205-6A4D-604E-A187-51A2298D6BC3}" type="slidenum">
              <a:rPr lang="en-US" smtClean="0"/>
              <a:t>1</a:t>
            </a:fld>
            <a:endParaRPr lang="en-US"/>
          </a:p>
        </p:txBody>
      </p:sp>
    </p:spTree>
    <p:extLst>
      <p:ext uri="{BB962C8B-B14F-4D97-AF65-F5344CB8AC3E}">
        <p14:creationId xmlns:p14="http://schemas.microsoft.com/office/powerpoint/2010/main" val="33201848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2BA8A-90A7-55E1-D460-B73CFC9119B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E"/>
          </a:p>
        </p:txBody>
      </p:sp>
      <p:sp>
        <p:nvSpPr>
          <p:cNvPr id="3" name="Subtitle 2">
            <a:extLst>
              <a:ext uri="{FF2B5EF4-FFF2-40B4-BE49-F238E27FC236}">
                <a16:creationId xmlns:a16="http://schemas.microsoft.com/office/drawing/2014/main" id="{D8265A3E-32FF-5194-04CC-C9164F17C8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E"/>
          </a:p>
        </p:txBody>
      </p:sp>
      <p:sp>
        <p:nvSpPr>
          <p:cNvPr id="4" name="Date Placeholder 3">
            <a:extLst>
              <a:ext uri="{FF2B5EF4-FFF2-40B4-BE49-F238E27FC236}">
                <a16:creationId xmlns:a16="http://schemas.microsoft.com/office/drawing/2014/main" id="{9AFA042E-9DB3-6E80-0F7B-6E1B28FEB1E9}"/>
              </a:ext>
            </a:extLst>
          </p:cNvPr>
          <p:cNvSpPr>
            <a:spLocks noGrp="1"/>
          </p:cNvSpPr>
          <p:nvPr>
            <p:ph type="dt" sz="half" idx="10"/>
          </p:nvPr>
        </p:nvSpPr>
        <p:spPr/>
        <p:txBody>
          <a:bodyPr/>
          <a:lstStyle/>
          <a:p>
            <a:fld id="{7CAF4D6E-A2E3-5F4E-A099-A5E000CF2A60}" type="datetimeFigureOut">
              <a:rPr lang="en-IE" smtClean="0"/>
              <a:t>21/07/2026</a:t>
            </a:fld>
            <a:endParaRPr lang="en-IE"/>
          </a:p>
        </p:txBody>
      </p:sp>
      <p:sp>
        <p:nvSpPr>
          <p:cNvPr id="5" name="Footer Placeholder 4">
            <a:extLst>
              <a:ext uri="{FF2B5EF4-FFF2-40B4-BE49-F238E27FC236}">
                <a16:creationId xmlns:a16="http://schemas.microsoft.com/office/drawing/2014/main" id="{1241C323-1585-73A3-80D2-D8E0C659726F}"/>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8E9F6A75-E807-0FBD-06EC-7BEDB0761CA8}"/>
              </a:ext>
            </a:extLst>
          </p:cNvPr>
          <p:cNvSpPr>
            <a:spLocks noGrp="1"/>
          </p:cNvSpPr>
          <p:nvPr>
            <p:ph type="sldNum" sz="quarter" idx="12"/>
          </p:nvPr>
        </p:nvSpPr>
        <p:spPr/>
        <p:txBody>
          <a:bodyPr/>
          <a:lstStyle/>
          <a:p>
            <a:fld id="{42635E7B-07C1-0E47-807A-AFC2EDE53E78}" type="slidenum">
              <a:rPr lang="en-IE" smtClean="0"/>
              <a:t>‹#›</a:t>
            </a:fld>
            <a:endParaRPr lang="en-IE"/>
          </a:p>
        </p:txBody>
      </p:sp>
    </p:spTree>
    <p:extLst>
      <p:ext uri="{BB962C8B-B14F-4D97-AF65-F5344CB8AC3E}">
        <p14:creationId xmlns:p14="http://schemas.microsoft.com/office/powerpoint/2010/main" val="3720962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E61DF-CBE0-114E-B9AC-27E149CEB93A}"/>
              </a:ext>
            </a:extLst>
          </p:cNvPr>
          <p:cNvSpPr>
            <a:spLocks noGrp="1"/>
          </p:cNvSpPr>
          <p:nvPr>
            <p:ph type="title"/>
          </p:nvPr>
        </p:nvSpPr>
        <p:spPr/>
        <p:txBody>
          <a:bodyPr/>
          <a:lstStyle/>
          <a:p>
            <a:r>
              <a:rPr lang="en-GB"/>
              <a:t>Click to edit Master title style</a:t>
            </a:r>
            <a:endParaRPr lang="en-IE"/>
          </a:p>
        </p:txBody>
      </p:sp>
      <p:sp>
        <p:nvSpPr>
          <p:cNvPr id="3" name="Content Placeholder 2">
            <a:extLst>
              <a:ext uri="{FF2B5EF4-FFF2-40B4-BE49-F238E27FC236}">
                <a16:creationId xmlns:a16="http://schemas.microsoft.com/office/drawing/2014/main" id="{8EE262D4-867F-E18A-1329-3E65C39FCF8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4" name="Date Placeholder 3">
            <a:extLst>
              <a:ext uri="{FF2B5EF4-FFF2-40B4-BE49-F238E27FC236}">
                <a16:creationId xmlns:a16="http://schemas.microsoft.com/office/drawing/2014/main" id="{38B7896B-C86D-8DE5-CD9E-BF541026E3CD}"/>
              </a:ext>
            </a:extLst>
          </p:cNvPr>
          <p:cNvSpPr>
            <a:spLocks noGrp="1"/>
          </p:cNvSpPr>
          <p:nvPr>
            <p:ph type="dt" sz="half" idx="10"/>
          </p:nvPr>
        </p:nvSpPr>
        <p:spPr/>
        <p:txBody>
          <a:bodyPr/>
          <a:lstStyle/>
          <a:p>
            <a:fld id="{7CAF4D6E-A2E3-5F4E-A099-A5E000CF2A60}" type="datetimeFigureOut">
              <a:rPr lang="en-IE" smtClean="0"/>
              <a:t>21/07/2026</a:t>
            </a:fld>
            <a:endParaRPr lang="en-IE"/>
          </a:p>
        </p:txBody>
      </p:sp>
      <p:sp>
        <p:nvSpPr>
          <p:cNvPr id="5" name="Footer Placeholder 4">
            <a:extLst>
              <a:ext uri="{FF2B5EF4-FFF2-40B4-BE49-F238E27FC236}">
                <a16:creationId xmlns:a16="http://schemas.microsoft.com/office/drawing/2014/main" id="{3C4DA114-58F9-C275-7C40-D5E1C32074FC}"/>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8417E0FC-4B7D-B838-BE9A-5E2692CC44D9}"/>
              </a:ext>
            </a:extLst>
          </p:cNvPr>
          <p:cNvSpPr>
            <a:spLocks noGrp="1"/>
          </p:cNvSpPr>
          <p:nvPr>
            <p:ph type="sldNum" sz="quarter" idx="12"/>
          </p:nvPr>
        </p:nvSpPr>
        <p:spPr/>
        <p:txBody>
          <a:bodyPr/>
          <a:lstStyle/>
          <a:p>
            <a:fld id="{42635E7B-07C1-0E47-807A-AFC2EDE53E78}" type="slidenum">
              <a:rPr lang="en-IE" smtClean="0"/>
              <a:t>‹#›</a:t>
            </a:fld>
            <a:endParaRPr lang="en-IE"/>
          </a:p>
        </p:txBody>
      </p:sp>
    </p:spTree>
    <p:extLst>
      <p:ext uri="{BB962C8B-B14F-4D97-AF65-F5344CB8AC3E}">
        <p14:creationId xmlns:p14="http://schemas.microsoft.com/office/powerpoint/2010/main" val="17204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FA3FD-D1E8-FA92-DDFA-134A5612268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E"/>
          </a:p>
        </p:txBody>
      </p:sp>
      <p:sp>
        <p:nvSpPr>
          <p:cNvPr id="3" name="Text Placeholder 2">
            <a:extLst>
              <a:ext uri="{FF2B5EF4-FFF2-40B4-BE49-F238E27FC236}">
                <a16:creationId xmlns:a16="http://schemas.microsoft.com/office/drawing/2014/main" id="{9BFF04CA-FCDA-35AF-325B-81806A5A0B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5691B72-E609-30A0-6CD9-AECB0297540E}"/>
              </a:ext>
            </a:extLst>
          </p:cNvPr>
          <p:cNvSpPr>
            <a:spLocks noGrp="1"/>
          </p:cNvSpPr>
          <p:nvPr>
            <p:ph type="dt" sz="half" idx="10"/>
          </p:nvPr>
        </p:nvSpPr>
        <p:spPr/>
        <p:txBody>
          <a:bodyPr/>
          <a:lstStyle/>
          <a:p>
            <a:fld id="{7CAF4D6E-A2E3-5F4E-A099-A5E000CF2A60}" type="datetimeFigureOut">
              <a:rPr lang="en-IE" smtClean="0"/>
              <a:t>21/07/2026</a:t>
            </a:fld>
            <a:endParaRPr lang="en-IE"/>
          </a:p>
        </p:txBody>
      </p:sp>
      <p:sp>
        <p:nvSpPr>
          <p:cNvPr id="5" name="Footer Placeholder 4">
            <a:extLst>
              <a:ext uri="{FF2B5EF4-FFF2-40B4-BE49-F238E27FC236}">
                <a16:creationId xmlns:a16="http://schemas.microsoft.com/office/drawing/2014/main" id="{EAA7A62B-48EE-3131-18D1-F42739B57A89}"/>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7E0F7DC8-4B01-C14D-703C-71BC53505C27}"/>
              </a:ext>
            </a:extLst>
          </p:cNvPr>
          <p:cNvSpPr>
            <a:spLocks noGrp="1"/>
          </p:cNvSpPr>
          <p:nvPr>
            <p:ph type="sldNum" sz="quarter" idx="12"/>
          </p:nvPr>
        </p:nvSpPr>
        <p:spPr/>
        <p:txBody>
          <a:bodyPr/>
          <a:lstStyle/>
          <a:p>
            <a:fld id="{42635E7B-07C1-0E47-807A-AFC2EDE53E78}" type="slidenum">
              <a:rPr lang="en-IE" smtClean="0"/>
              <a:t>‹#›</a:t>
            </a:fld>
            <a:endParaRPr lang="en-IE"/>
          </a:p>
        </p:txBody>
      </p:sp>
    </p:spTree>
    <p:extLst>
      <p:ext uri="{BB962C8B-B14F-4D97-AF65-F5344CB8AC3E}">
        <p14:creationId xmlns:p14="http://schemas.microsoft.com/office/powerpoint/2010/main" val="33058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06E63-62F1-3C47-6857-A680FA8216F3}"/>
              </a:ext>
            </a:extLst>
          </p:cNvPr>
          <p:cNvSpPr>
            <a:spLocks noGrp="1"/>
          </p:cNvSpPr>
          <p:nvPr>
            <p:ph type="title"/>
          </p:nvPr>
        </p:nvSpPr>
        <p:spPr/>
        <p:txBody>
          <a:bodyPr/>
          <a:lstStyle/>
          <a:p>
            <a:r>
              <a:rPr lang="en-GB"/>
              <a:t>Click to edit Master title style</a:t>
            </a:r>
            <a:endParaRPr lang="en-IE"/>
          </a:p>
        </p:txBody>
      </p:sp>
      <p:sp>
        <p:nvSpPr>
          <p:cNvPr id="3" name="Content Placeholder 2">
            <a:extLst>
              <a:ext uri="{FF2B5EF4-FFF2-40B4-BE49-F238E27FC236}">
                <a16:creationId xmlns:a16="http://schemas.microsoft.com/office/drawing/2014/main" id="{B9E4A513-A2F7-99D6-6109-15FAE7A2D8D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4" name="Content Placeholder 3">
            <a:extLst>
              <a:ext uri="{FF2B5EF4-FFF2-40B4-BE49-F238E27FC236}">
                <a16:creationId xmlns:a16="http://schemas.microsoft.com/office/drawing/2014/main" id="{A0B83158-066A-7962-CF2E-4C83E6B6C6A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5" name="Date Placeholder 4">
            <a:extLst>
              <a:ext uri="{FF2B5EF4-FFF2-40B4-BE49-F238E27FC236}">
                <a16:creationId xmlns:a16="http://schemas.microsoft.com/office/drawing/2014/main" id="{F491782E-1209-C0A1-707E-DD1A2E674F91}"/>
              </a:ext>
            </a:extLst>
          </p:cNvPr>
          <p:cNvSpPr>
            <a:spLocks noGrp="1"/>
          </p:cNvSpPr>
          <p:nvPr>
            <p:ph type="dt" sz="half" idx="10"/>
          </p:nvPr>
        </p:nvSpPr>
        <p:spPr/>
        <p:txBody>
          <a:bodyPr/>
          <a:lstStyle/>
          <a:p>
            <a:fld id="{7CAF4D6E-A2E3-5F4E-A099-A5E000CF2A60}" type="datetimeFigureOut">
              <a:rPr lang="en-IE" smtClean="0"/>
              <a:t>21/07/2026</a:t>
            </a:fld>
            <a:endParaRPr lang="en-IE"/>
          </a:p>
        </p:txBody>
      </p:sp>
      <p:sp>
        <p:nvSpPr>
          <p:cNvPr id="6" name="Footer Placeholder 5">
            <a:extLst>
              <a:ext uri="{FF2B5EF4-FFF2-40B4-BE49-F238E27FC236}">
                <a16:creationId xmlns:a16="http://schemas.microsoft.com/office/drawing/2014/main" id="{F9A95FC4-FD00-D6D1-022B-B0DACDCEE4C9}"/>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462049D0-854E-82B9-AB82-7804C7B22F40}"/>
              </a:ext>
            </a:extLst>
          </p:cNvPr>
          <p:cNvSpPr>
            <a:spLocks noGrp="1"/>
          </p:cNvSpPr>
          <p:nvPr>
            <p:ph type="sldNum" sz="quarter" idx="12"/>
          </p:nvPr>
        </p:nvSpPr>
        <p:spPr/>
        <p:txBody>
          <a:bodyPr/>
          <a:lstStyle/>
          <a:p>
            <a:fld id="{42635E7B-07C1-0E47-807A-AFC2EDE53E78}" type="slidenum">
              <a:rPr lang="en-IE" smtClean="0"/>
              <a:t>‹#›</a:t>
            </a:fld>
            <a:endParaRPr lang="en-IE"/>
          </a:p>
        </p:txBody>
      </p:sp>
    </p:spTree>
    <p:extLst>
      <p:ext uri="{BB962C8B-B14F-4D97-AF65-F5344CB8AC3E}">
        <p14:creationId xmlns:p14="http://schemas.microsoft.com/office/powerpoint/2010/main" val="23679809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8FA32-D7D5-C355-03B2-85E777B903E8}"/>
              </a:ext>
            </a:extLst>
          </p:cNvPr>
          <p:cNvSpPr>
            <a:spLocks noGrp="1"/>
          </p:cNvSpPr>
          <p:nvPr>
            <p:ph type="title"/>
          </p:nvPr>
        </p:nvSpPr>
        <p:spPr>
          <a:xfrm>
            <a:off x="839788" y="365125"/>
            <a:ext cx="10515600" cy="1325563"/>
          </a:xfrm>
        </p:spPr>
        <p:txBody>
          <a:bodyPr/>
          <a:lstStyle/>
          <a:p>
            <a:r>
              <a:rPr lang="en-GB"/>
              <a:t>Click to edit Master title style</a:t>
            </a:r>
            <a:endParaRPr lang="en-IE"/>
          </a:p>
        </p:txBody>
      </p:sp>
      <p:sp>
        <p:nvSpPr>
          <p:cNvPr id="3" name="Text Placeholder 2">
            <a:extLst>
              <a:ext uri="{FF2B5EF4-FFF2-40B4-BE49-F238E27FC236}">
                <a16:creationId xmlns:a16="http://schemas.microsoft.com/office/drawing/2014/main" id="{53A8C9B3-F1F0-3BFD-3158-626C1B7D02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7138243-2F54-06E4-0BC5-23D61B3CC44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5" name="Text Placeholder 4">
            <a:extLst>
              <a:ext uri="{FF2B5EF4-FFF2-40B4-BE49-F238E27FC236}">
                <a16:creationId xmlns:a16="http://schemas.microsoft.com/office/drawing/2014/main" id="{AA5F76EF-C4D1-CEE9-879C-A007F55122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A960E96-07D9-6D52-6F6E-8A2913BCE33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7" name="Date Placeholder 6">
            <a:extLst>
              <a:ext uri="{FF2B5EF4-FFF2-40B4-BE49-F238E27FC236}">
                <a16:creationId xmlns:a16="http://schemas.microsoft.com/office/drawing/2014/main" id="{8EF12394-41C2-361B-4D08-6FDAFCAD16ED}"/>
              </a:ext>
            </a:extLst>
          </p:cNvPr>
          <p:cNvSpPr>
            <a:spLocks noGrp="1"/>
          </p:cNvSpPr>
          <p:nvPr>
            <p:ph type="dt" sz="half" idx="10"/>
          </p:nvPr>
        </p:nvSpPr>
        <p:spPr/>
        <p:txBody>
          <a:bodyPr/>
          <a:lstStyle/>
          <a:p>
            <a:fld id="{7CAF4D6E-A2E3-5F4E-A099-A5E000CF2A60}" type="datetimeFigureOut">
              <a:rPr lang="en-IE" smtClean="0"/>
              <a:t>21/07/2026</a:t>
            </a:fld>
            <a:endParaRPr lang="en-IE"/>
          </a:p>
        </p:txBody>
      </p:sp>
      <p:sp>
        <p:nvSpPr>
          <p:cNvPr id="8" name="Footer Placeholder 7">
            <a:extLst>
              <a:ext uri="{FF2B5EF4-FFF2-40B4-BE49-F238E27FC236}">
                <a16:creationId xmlns:a16="http://schemas.microsoft.com/office/drawing/2014/main" id="{DA9C1A78-F853-B11A-F042-214A4C78EAE3}"/>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09EC2D6F-8EA4-DB2B-E297-82A30C93497A}"/>
              </a:ext>
            </a:extLst>
          </p:cNvPr>
          <p:cNvSpPr>
            <a:spLocks noGrp="1"/>
          </p:cNvSpPr>
          <p:nvPr>
            <p:ph type="sldNum" sz="quarter" idx="12"/>
          </p:nvPr>
        </p:nvSpPr>
        <p:spPr/>
        <p:txBody>
          <a:bodyPr/>
          <a:lstStyle/>
          <a:p>
            <a:fld id="{42635E7B-07C1-0E47-807A-AFC2EDE53E78}" type="slidenum">
              <a:rPr lang="en-IE" smtClean="0"/>
              <a:t>‹#›</a:t>
            </a:fld>
            <a:endParaRPr lang="en-IE"/>
          </a:p>
        </p:txBody>
      </p:sp>
    </p:spTree>
    <p:extLst>
      <p:ext uri="{BB962C8B-B14F-4D97-AF65-F5344CB8AC3E}">
        <p14:creationId xmlns:p14="http://schemas.microsoft.com/office/powerpoint/2010/main" val="4082449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D8CDD-E5A1-74AA-DED7-577AE0D83DD6}"/>
              </a:ext>
            </a:extLst>
          </p:cNvPr>
          <p:cNvSpPr>
            <a:spLocks noGrp="1"/>
          </p:cNvSpPr>
          <p:nvPr>
            <p:ph type="title"/>
          </p:nvPr>
        </p:nvSpPr>
        <p:spPr/>
        <p:txBody>
          <a:bodyPr/>
          <a:lstStyle/>
          <a:p>
            <a:r>
              <a:rPr lang="en-GB"/>
              <a:t>Click to edit Master title style</a:t>
            </a:r>
            <a:endParaRPr lang="en-IE"/>
          </a:p>
        </p:txBody>
      </p:sp>
      <p:sp>
        <p:nvSpPr>
          <p:cNvPr id="3" name="Date Placeholder 2">
            <a:extLst>
              <a:ext uri="{FF2B5EF4-FFF2-40B4-BE49-F238E27FC236}">
                <a16:creationId xmlns:a16="http://schemas.microsoft.com/office/drawing/2014/main" id="{D20BD7B5-FDDF-FA22-42AB-DC86822B8A47}"/>
              </a:ext>
            </a:extLst>
          </p:cNvPr>
          <p:cNvSpPr>
            <a:spLocks noGrp="1"/>
          </p:cNvSpPr>
          <p:nvPr>
            <p:ph type="dt" sz="half" idx="10"/>
          </p:nvPr>
        </p:nvSpPr>
        <p:spPr/>
        <p:txBody>
          <a:bodyPr/>
          <a:lstStyle/>
          <a:p>
            <a:fld id="{7CAF4D6E-A2E3-5F4E-A099-A5E000CF2A60}" type="datetimeFigureOut">
              <a:rPr lang="en-IE" smtClean="0"/>
              <a:t>21/07/2026</a:t>
            </a:fld>
            <a:endParaRPr lang="en-IE"/>
          </a:p>
        </p:txBody>
      </p:sp>
      <p:sp>
        <p:nvSpPr>
          <p:cNvPr id="4" name="Footer Placeholder 3">
            <a:extLst>
              <a:ext uri="{FF2B5EF4-FFF2-40B4-BE49-F238E27FC236}">
                <a16:creationId xmlns:a16="http://schemas.microsoft.com/office/drawing/2014/main" id="{15372F94-B3A2-32E7-C22B-E376C17939AB}"/>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A81BB53A-499F-0EB0-861B-26FC132BB65B}"/>
              </a:ext>
            </a:extLst>
          </p:cNvPr>
          <p:cNvSpPr>
            <a:spLocks noGrp="1"/>
          </p:cNvSpPr>
          <p:nvPr>
            <p:ph type="sldNum" sz="quarter" idx="12"/>
          </p:nvPr>
        </p:nvSpPr>
        <p:spPr/>
        <p:txBody>
          <a:bodyPr/>
          <a:lstStyle/>
          <a:p>
            <a:fld id="{42635E7B-07C1-0E47-807A-AFC2EDE53E78}" type="slidenum">
              <a:rPr lang="en-IE" smtClean="0"/>
              <a:t>‹#›</a:t>
            </a:fld>
            <a:endParaRPr lang="en-IE"/>
          </a:p>
        </p:txBody>
      </p:sp>
    </p:spTree>
    <p:extLst>
      <p:ext uri="{BB962C8B-B14F-4D97-AF65-F5344CB8AC3E}">
        <p14:creationId xmlns:p14="http://schemas.microsoft.com/office/powerpoint/2010/main" val="3954962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C06AB8-10C1-C56E-1601-E710870514AB}"/>
              </a:ext>
            </a:extLst>
          </p:cNvPr>
          <p:cNvSpPr>
            <a:spLocks noGrp="1"/>
          </p:cNvSpPr>
          <p:nvPr>
            <p:ph type="dt" sz="half" idx="10"/>
          </p:nvPr>
        </p:nvSpPr>
        <p:spPr/>
        <p:txBody>
          <a:bodyPr/>
          <a:lstStyle/>
          <a:p>
            <a:fld id="{7CAF4D6E-A2E3-5F4E-A099-A5E000CF2A60}" type="datetimeFigureOut">
              <a:rPr lang="en-IE" smtClean="0"/>
              <a:t>21/07/2026</a:t>
            </a:fld>
            <a:endParaRPr lang="en-IE"/>
          </a:p>
        </p:txBody>
      </p:sp>
      <p:sp>
        <p:nvSpPr>
          <p:cNvPr id="3" name="Footer Placeholder 2">
            <a:extLst>
              <a:ext uri="{FF2B5EF4-FFF2-40B4-BE49-F238E27FC236}">
                <a16:creationId xmlns:a16="http://schemas.microsoft.com/office/drawing/2014/main" id="{94B89CF5-A8BE-E3CE-BF37-AC9FC19C3EE4}"/>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AD284144-31AD-EBC6-E36F-25C1465FA7B8}"/>
              </a:ext>
            </a:extLst>
          </p:cNvPr>
          <p:cNvSpPr>
            <a:spLocks noGrp="1"/>
          </p:cNvSpPr>
          <p:nvPr>
            <p:ph type="sldNum" sz="quarter" idx="12"/>
          </p:nvPr>
        </p:nvSpPr>
        <p:spPr/>
        <p:txBody>
          <a:bodyPr/>
          <a:lstStyle/>
          <a:p>
            <a:fld id="{42635E7B-07C1-0E47-807A-AFC2EDE53E78}" type="slidenum">
              <a:rPr lang="en-IE" smtClean="0"/>
              <a:t>‹#›</a:t>
            </a:fld>
            <a:endParaRPr lang="en-IE"/>
          </a:p>
        </p:txBody>
      </p:sp>
    </p:spTree>
    <p:extLst>
      <p:ext uri="{BB962C8B-B14F-4D97-AF65-F5344CB8AC3E}">
        <p14:creationId xmlns:p14="http://schemas.microsoft.com/office/powerpoint/2010/main" val="31352049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BFF1A-CBB6-2CEA-1D1B-9FE5D1D5C28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E"/>
          </a:p>
        </p:txBody>
      </p:sp>
      <p:sp>
        <p:nvSpPr>
          <p:cNvPr id="3" name="Content Placeholder 2">
            <a:extLst>
              <a:ext uri="{FF2B5EF4-FFF2-40B4-BE49-F238E27FC236}">
                <a16:creationId xmlns:a16="http://schemas.microsoft.com/office/drawing/2014/main" id="{F528798E-EAA9-B2BF-17A3-E8A693D6EE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4" name="Text Placeholder 3">
            <a:extLst>
              <a:ext uri="{FF2B5EF4-FFF2-40B4-BE49-F238E27FC236}">
                <a16:creationId xmlns:a16="http://schemas.microsoft.com/office/drawing/2014/main" id="{F48FDCFE-A563-0BAE-12AE-1382F7C7AB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717B6E6-BE5D-73FA-C4BE-46EAACB4F280}"/>
              </a:ext>
            </a:extLst>
          </p:cNvPr>
          <p:cNvSpPr>
            <a:spLocks noGrp="1"/>
          </p:cNvSpPr>
          <p:nvPr>
            <p:ph type="dt" sz="half" idx="10"/>
          </p:nvPr>
        </p:nvSpPr>
        <p:spPr/>
        <p:txBody>
          <a:bodyPr/>
          <a:lstStyle/>
          <a:p>
            <a:fld id="{7CAF4D6E-A2E3-5F4E-A099-A5E000CF2A60}" type="datetimeFigureOut">
              <a:rPr lang="en-IE" smtClean="0"/>
              <a:t>21/07/2026</a:t>
            </a:fld>
            <a:endParaRPr lang="en-IE"/>
          </a:p>
        </p:txBody>
      </p:sp>
      <p:sp>
        <p:nvSpPr>
          <p:cNvPr id="6" name="Footer Placeholder 5">
            <a:extLst>
              <a:ext uri="{FF2B5EF4-FFF2-40B4-BE49-F238E27FC236}">
                <a16:creationId xmlns:a16="http://schemas.microsoft.com/office/drawing/2014/main" id="{3186438B-61C2-84B0-0ABE-28EC351FACD0}"/>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677FD8D2-3FFC-E88B-501A-F53BD8EB8007}"/>
              </a:ext>
            </a:extLst>
          </p:cNvPr>
          <p:cNvSpPr>
            <a:spLocks noGrp="1"/>
          </p:cNvSpPr>
          <p:nvPr>
            <p:ph type="sldNum" sz="quarter" idx="12"/>
          </p:nvPr>
        </p:nvSpPr>
        <p:spPr/>
        <p:txBody>
          <a:bodyPr/>
          <a:lstStyle/>
          <a:p>
            <a:fld id="{42635E7B-07C1-0E47-807A-AFC2EDE53E78}" type="slidenum">
              <a:rPr lang="en-IE" smtClean="0"/>
              <a:t>‹#›</a:t>
            </a:fld>
            <a:endParaRPr lang="en-IE"/>
          </a:p>
        </p:txBody>
      </p:sp>
    </p:spTree>
    <p:extLst>
      <p:ext uri="{BB962C8B-B14F-4D97-AF65-F5344CB8AC3E}">
        <p14:creationId xmlns:p14="http://schemas.microsoft.com/office/powerpoint/2010/main" val="41005409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9C13A-818E-6880-2E14-0ECA70940B2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E"/>
          </a:p>
        </p:txBody>
      </p:sp>
      <p:sp>
        <p:nvSpPr>
          <p:cNvPr id="3" name="Picture Placeholder 2">
            <a:extLst>
              <a:ext uri="{FF2B5EF4-FFF2-40B4-BE49-F238E27FC236}">
                <a16:creationId xmlns:a16="http://schemas.microsoft.com/office/drawing/2014/main" id="{2827B185-C3A0-846E-2067-A95CA8F715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3C9556C5-D872-3F58-737C-EDC68AC2CC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8343C92-F01A-D311-DA23-9CC06598875E}"/>
              </a:ext>
            </a:extLst>
          </p:cNvPr>
          <p:cNvSpPr>
            <a:spLocks noGrp="1"/>
          </p:cNvSpPr>
          <p:nvPr>
            <p:ph type="dt" sz="half" idx="10"/>
          </p:nvPr>
        </p:nvSpPr>
        <p:spPr/>
        <p:txBody>
          <a:bodyPr/>
          <a:lstStyle/>
          <a:p>
            <a:fld id="{7CAF4D6E-A2E3-5F4E-A099-A5E000CF2A60}" type="datetimeFigureOut">
              <a:rPr lang="en-IE" smtClean="0"/>
              <a:t>21/07/2026</a:t>
            </a:fld>
            <a:endParaRPr lang="en-IE"/>
          </a:p>
        </p:txBody>
      </p:sp>
      <p:sp>
        <p:nvSpPr>
          <p:cNvPr id="6" name="Footer Placeholder 5">
            <a:extLst>
              <a:ext uri="{FF2B5EF4-FFF2-40B4-BE49-F238E27FC236}">
                <a16:creationId xmlns:a16="http://schemas.microsoft.com/office/drawing/2014/main" id="{C4581CA8-F422-ABEA-1640-6A5771384CD9}"/>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676E43C7-AB8B-E3CB-12AE-1A2542C457BB}"/>
              </a:ext>
            </a:extLst>
          </p:cNvPr>
          <p:cNvSpPr>
            <a:spLocks noGrp="1"/>
          </p:cNvSpPr>
          <p:nvPr>
            <p:ph type="sldNum" sz="quarter" idx="12"/>
          </p:nvPr>
        </p:nvSpPr>
        <p:spPr/>
        <p:txBody>
          <a:bodyPr/>
          <a:lstStyle/>
          <a:p>
            <a:fld id="{42635E7B-07C1-0E47-807A-AFC2EDE53E78}" type="slidenum">
              <a:rPr lang="en-IE" smtClean="0"/>
              <a:t>‹#›</a:t>
            </a:fld>
            <a:endParaRPr lang="en-IE"/>
          </a:p>
        </p:txBody>
      </p:sp>
    </p:spTree>
    <p:extLst>
      <p:ext uri="{BB962C8B-B14F-4D97-AF65-F5344CB8AC3E}">
        <p14:creationId xmlns:p14="http://schemas.microsoft.com/office/powerpoint/2010/main" val="876994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E0E2B-84DC-72F1-CB24-CC94ACCBB5B8}"/>
              </a:ext>
            </a:extLst>
          </p:cNvPr>
          <p:cNvSpPr>
            <a:spLocks noGrp="1"/>
          </p:cNvSpPr>
          <p:nvPr>
            <p:ph type="title"/>
          </p:nvPr>
        </p:nvSpPr>
        <p:spPr/>
        <p:txBody>
          <a:bodyPr/>
          <a:lstStyle/>
          <a:p>
            <a:r>
              <a:rPr lang="en-GB"/>
              <a:t>Click to edit Master title style</a:t>
            </a:r>
            <a:endParaRPr lang="en-IE"/>
          </a:p>
        </p:txBody>
      </p:sp>
      <p:sp>
        <p:nvSpPr>
          <p:cNvPr id="3" name="Vertical Text Placeholder 2">
            <a:extLst>
              <a:ext uri="{FF2B5EF4-FFF2-40B4-BE49-F238E27FC236}">
                <a16:creationId xmlns:a16="http://schemas.microsoft.com/office/drawing/2014/main" id="{C5CC7B6B-67B9-BF66-4D81-26F0F0A0AEF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4" name="Date Placeholder 3">
            <a:extLst>
              <a:ext uri="{FF2B5EF4-FFF2-40B4-BE49-F238E27FC236}">
                <a16:creationId xmlns:a16="http://schemas.microsoft.com/office/drawing/2014/main" id="{03C40831-D35A-4AE7-F696-B29D62388A61}"/>
              </a:ext>
            </a:extLst>
          </p:cNvPr>
          <p:cNvSpPr>
            <a:spLocks noGrp="1"/>
          </p:cNvSpPr>
          <p:nvPr>
            <p:ph type="dt" sz="half" idx="10"/>
          </p:nvPr>
        </p:nvSpPr>
        <p:spPr/>
        <p:txBody>
          <a:bodyPr/>
          <a:lstStyle/>
          <a:p>
            <a:fld id="{7CAF4D6E-A2E3-5F4E-A099-A5E000CF2A60}" type="datetimeFigureOut">
              <a:rPr lang="en-IE" smtClean="0"/>
              <a:t>21/07/2026</a:t>
            </a:fld>
            <a:endParaRPr lang="en-IE"/>
          </a:p>
        </p:txBody>
      </p:sp>
      <p:sp>
        <p:nvSpPr>
          <p:cNvPr id="5" name="Footer Placeholder 4">
            <a:extLst>
              <a:ext uri="{FF2B5EF4-FFF2-40B4-BE49-F238E27FC236}">
                <a16:creationId xmlns:a16="http://schemas.microsoft.com/office/drawing/2014/main" id="{A6D31944-AF32-D892-CB33-9F6610AA450F}"/>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5923E66F-5543-4D30-6FBD-6E280A0DEE22}"/>
              </a:ext>
            </a:extLst>
          </p:cNvPr>
          <p:cNvSpPr>
            <a:spLocks noGrp="1"/>
          </p:cNvSpPr>
          <p:nvPr>
            <p:ph type="sldNum" sz="quarter" idx="12"/>
          </p:nvPr>
        </p:nvSpPr>
        <p:spPr/>
        <p:txBody>
          <a:bodyPr/>
          <a:lstStyle/>
          <a:p>
            <a:fld id="{42635E7B-07C1-0E47-807A-AFC2EDE53E78}" type="slidenum">
              <a:rPr lang="en-IE" smtClean="0"/>
              <a:t>‹#›</a:t>
            </a:fld>
            <a:endParaRPr lang="en-IE"/>
          </a:p>
        </p:txBody>
      </p:sp>
    </p:spTree>
    <p:extLst>
      <p:ext uri="{BB962C8B-B14F-4D97-AF65-F5344CB8AC3E}">
        <p14:creationId xmlns:p14="http://schemas.microsoft.com/office/powerpoint/2010/main" val="2829223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529DF7-B24B-6460-3CBA-096BC1AE723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E"/>
          </a:p>
        </p:txBody>
      </p:sp>
      <p:sp>
        <p:nvSpPr>
          <p:cNvPr id="3" name="Vertical Text Placeholder 2">
            <a:extLst>
              <a:ext uri="{FF2B5EF4-FFF2-40B4-BE49-F238E27FC236}">
                <a16:creationId xmlns:a16="http://schemas.microsoft.com/office/drawing/2014/main" id="{3BDBA3DE-BAC5-B58D-EEB8-F8FB4B74E98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4" name="Date Placeholder 3">
            <a:extLst>
              <a:ext uri="{FF2B5EF4-FFF2-40B4-BE49-F238E27FC236}">
                <a16:creationId xmlns:a16="http://schemas.microsoft.com/office/drawing/2014/main" id="{5052F34A-9226-F0B3-A427-4EF8060423CC}"/>
              </a:ext>
            </a:extLst>
          </p:cNvPr>
          <p:cNvSpPr>
            <a:spLocks noGrp="1"/>
          </p:cNvSpPr>
          <p:nvPr>
            <p:ph type="dt" sz="half" idx="10"/>
          </p:nvPr>
        </p:nvSpPr>
        <p:spPr/>
        <p:txBody>
          <a:bodyPr/>
          <a:lstStyle/>
          <a:p>
            <a:fld id="{7CAF4D6E-A2E3-5F4E-A099-A5E000CF2A60}" type="datetimeFigureOut">
              <a:rPr lang="en-IE" smtClean="0"/>
              <a:t>21/07/2026</a:t>
            </a:fld>
            <a:endParaRPr lang="en-IE"/>
          </a:p>
        </p:txBody>
      </p:sp>
      <p:sp>
        <p:nvSpPr>
          <p:cNvPr id="5" name="Footer Placeholder 4">
            <a:extLst>
              <a:ext uri="{FF2B5EF4-FFF2-40B4-BE49-F238E27FC236}">
                <a16:creationId xmlns:a16="http://schemas.microsoft.com/office/drawing/2014/main" id="{B157C86B-4562-13EF-B270-6C6963BEEB24}"/>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D596A2BD-B51A-9E20-ED99-8D485E2395FC}"/>
              </a:ext>
            </a:extLst>
          </p:cNvPr>
          <p:cNvSpPr>
            <a:spLocks noGrp="1"/>
          </p:cNvSpPr>
          <p:nvPr>
            <p:ph type="sldNum" sz="quarter" idx="12"/>
          </p:nvPr>
        </p:nvSpPr>
        <p:spPr/>
        <p:txBody>
          <a:bodyPr/>
          <a:lstStyle/>
          <a:p>
            <a:fld id="{42635E7B-07C1-0E47-807A-AFC2EDE53E78}" type="slidenum">
              <a:rPr lang="en-IE" smtClean="0"/>
              <a:t>‹#›</a:t>
            </a:fld>
            <a:endParaRPr lang="en-IE"/>
          </a:p>
        </p:txBody>
      </p:sp>
    </p:spTree>
    <p:extLst>
      <p:ext uri="{BB962C8B-B14F-4D97-AF65-F5344CB8AC3E}">
        <p14:creationId xmlns:p14="http://schemas.microsoft.com/office/powerpoint/2010/main" val="16085185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27E603-D8F5-DA3E-B8F3-5BC3EC6A3B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E"/>
          </a:p>
        </p:txBody>
      </p:sp>
      <p:sp>
        <p:nvSpPr>
          <p:cNvPr id="3" name="Text Placeholder 2">
            <a:extLst>
              <a:ext uri="{FF2B5EF4-FFF2-40B4-BE49-F238E27FC236}">
                <a16:creationId xmlns:a16="http://schemas.microsoft.com/office/drawing/2014/main" id="{E9A31E54-FA01-8EA4-79B0-C907AFB3EA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4" name="Date Placeholder 3">
            <a:extLst>
              <a:ext uri="{FF2B5EF4-FFF2-40B4-BE49-F238E27FC236}">
                <a16:creationId xmlns:a16="http://schemas.microsoft.com/office/drawing/2014/main" id="{52785323-999F-FDC1-1D1E-C15B40555E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CAF4D6E-A2E3-5F4E-A099-A5E000CF2A60}" type="datetimeFigureOut">
              <a:rPr lang="en-IE" smtClean="0"/>
              <a:t>21/07/2026</a:t>
            </a:fld>
            <a:endParaRPr lang="en-IE"/>
          </a:p>
        </p:txBody>
      </p:sp>
      <p:sp>
        <p:nvSpPr>
          <p:cNvPr id="5" name="Footer Placeholder 4">
            <a:extLst>
              <a:ext uri="{FF2B5EF4-FFF2-40B4-BE49-F238E27FC236}">
                <a16:creationId xmlns:a16="http://schemas.microsoft.com/office/drawing/2014/main" id="{D22C6EDE-FB8E-0424-5C38-D5ACF0C18B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E"/>
          </a:p>
        </p:txBody>
      </p:sp>
      <p:sp>
        <p:nvSpPr>
          <p:cNvPr id="6" name="Slide Number Placeholder 5">
            <a:extLst>
              <a:ext uri="{FF2B5EF4-FFF2-40B4-BE49-F238E27FC236}">
                <a16:creationId xmlns:a16="http://schemas.microsoft.com/office/drawing/2014/main" id="{857D6DEC-1758-CD08-5738-6D98145F45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2635E7B-07C1-0E47-807A-AFC2EDE53E78}" type="slidenum">
              <a:rPr lang="en-IE" smtClean="0"/>
              <a:t>‹#›</a:t>
            </a:fld>
            <a:endParaRPr lang="en-IE"/>
          </a:p>
        </p:txBody>
      </p:sp>
    </p:spTree>
    <p:extLst>
      <p:ext uri="{BB962C8B-B14F-4D97-AF65-F5344CB8AC3E}">
        <p14:creationId xmlns:p14="http://schemas.microsoft.com/office/powerpoint/2010/main" val="16483962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a:spLocks noGrp="1" noRot="1" noMove="1" noResize="1" noEditPoints="1" noAdjustHandles="1" noChangeArrowheads="1" noChangeShapeType="1"/>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sz="1200"/>
          </a:p>
        </p:txBody>
      </p:sp>
      <p:sp>
        <p:nvSpPr>
          <p:cNvPr id="3" name="Freeform 3"/>
          <p:cNvSpPr/>
          <p:nvPr/>
        </p:nvSpPr>
        <p:spPr>
          <a:xfrm>
            <a:off x="11635990" y="6486523"/>
            <a:ext cx="260236" cy="260236"/>
          </a:xfrm>
          <a:custGeom>
            <a:avLst/>
            <a:gdLst/>
            <a:ahLst/>
            <a:cxnLst/>
            <a:rect l="l" t="t" r="r" b="b"/>
            <a:pathLst>
              <a:path w="390354" h="390354">
                <a:moveTo>
                  <a:pt x="0" y="0"/>
                </a:moveTo>
                <a:lnTo>
                  <a:pt x="390354" y="0"/>
                </a:lnTo>
                <a:lnTo>
                  <a:pt x="390354" y="390354"/>
                </a:lnTo>
                <a:lnTo>
                  <a:pt x="0" y="390354"/>
                </a:lnTo>
                <a:lnTo>
                  <a:pt x="0" y="0"/>
                </a:lnTo>
                <a:close/>
              </a:path>
            </a:pathLst>
          </a:custGeom>
          <a:blipFill>
            <a:blip r:embed="rId4"/>
            <a:stretch>
              <a:fillRect/>
            </a:stretch>
          </a:blipFill>
        </p:spPr>
        <p:txBody>
          <a:bodyPr/>
          <a:lstStyle/>
          <a:p>
            <a:endParaRPr lang="en-US" sz="1200"/>
          </a:p>
        </p:txBody>
      </p:sp>
      <p:sp>
        <p:nvSpPr>
          <p:cNvPr id="5" name="AutoShape 5"/>
          <p:cNvSpPr/>
          <p:nvPr/>
        </p:nvSpPr>
        <p:spPr>
          <a:xfrm>
            <a:off x="-16640" y="4499111"/>
            <a:ext cx="12240000" cy="0"/>
          </a:xfrm>
          <a:prstGeom prst="line">
            <a:avLst/>
          </a:prstGeom>
          <a:ln w="19050" cap="flat">
            <a:solidFill>
              <a:srgbClr val="C9492B"/>
            </a:solidFill>
            <a:prstDash val="solid"/>
            <a:headEnd type="none" w="sm" len="sm"/>
            <a:tailEnd type="none" w="sm" len="sm"/>
          </a:ln>
        </p:spPr>
        <p:txBody>
          <a:bodyPr/>
          <a:lstStyle/>
          <a:p>
            <a:endParaRPr lang="en-US" sz="1200"/>
          </a:p>
        </p:txBody>
      </p:sp>
      <p:sp>
        <p:nvSpPr>
          <p:cNvPr id="6" name="AutoShape 6"/>
          <p:cNvSpPr/>
          <p:nvPr/>
        </p:nvSpPr>
        <p:spPr>
          <a:xfrm>
            <a:off x="11585321" y="6556683"/>
            <a:ext cx="0" cy="190077"/>
          </a:xfrm>
          <a:prstGeom prst="line">
            <a:avLst/>
          </a:prstGeom>
          <a:ln w="19050" cap="flat">
            <a:solidFill>
              <a:srgbClr val="C9492B"/>
            </a:solidFill>
            <a:prstDash val="solid"/>
            <a:headEnd type="none" w="sm" len="sm"/>
            <a:tailEnd type="none" w="sm" len="sm"/>
          </a:ln>
        </p:spPr>
        <p:txBody>
          <a:bodyPr/>
          <a:lstStyle/>
          <a:p>
            <a:endParaRPr lang="en-US" sz="1200"/>
          </a:p>
        </p:txBody>
      </p:sp>
      <p:grpSp>
        <p:nvGrpSpPr>
          <p:cNvPr id="31" name="Group 30">
            <a:extLst>
              <a:ext uri="{FF2B5EF4-FFF2-40B4-BE49-F238E27FC236}">
                <a16:creationId xmlns:a16="http://schemas.microsoft.com/office/drawing/2014/main" id="{3064893A-411C-09F7-91CE-6E98C6B0909A}"/>
              </a:ext>
            </a:extLst>
          </p:cNvPr>
          <p:cNvGrpSpPr/>
          <p:nvPr/>
        </p:nvGrpSpPr>
        <p:grpSpPr>
          <a:xfrm>
            <a:off x="4673673" y="1239283"/>
            <a:ext cx="7117965" cy="2977379"/>
            <a:chOff x="7167391" y="1591832"/>
            <a:chExt cx="10676948" cy="4466068"/>
          </a:xfrm>
        </p:grpSpPr>
        <p:sp>
          <p:nvSpPr>
            <p:cNvPr id="7" name="Freeform 7"/>
            <p:cNvSpPr>
              <a:spLocks noChangeAspect="1"/>
            </p:cNvSpPr>
            <p:nvPr/>
          </p:nvSpPr>
          <p:spPr>
            <a:xfrm>
              <a:off x="12465209" y="3334802"/>
              <a:ext cx="2736743" cy="1008000"/>
            </a:xfrm>
            <a:custGeom>
              <a:avLst/>
              <a:gdLst/>
              <a:ahLst/>
              <a:cxnLst/>
              <a:rect l="l" t="t" r="r" b="b"/>
              <a:pathLst>
                <a:path w="3161295" h="1142097">
                  <a:moveTo>
                    <a:pt x="0" y="0"/>
                  </a:moveTo>
                  <a:lnTo>
                    <a:pt x="3161296" y="0"/>
                  </a:lnTo>
                  <a:lnTo>
                    <a:pt x="3161296" y="1142097"/>
                  </a:lnTo>
                  <a:lnTo>
                    <a:pt x="0" y="1142097"/>
                  </a:lnTo>
                  <a:lnTo>
                    <a:pt x="0" y="0"/>
                  </a:lnTo>
                  <a:close/>
                </a:path>
              </a:pathLst>
            </a:custGeom>
            <a:blipFill>
              <a:blip r:embed="rId5"/>
              <a:stretch>
                <a:fillRect l="-3921" r="-3921"/>
              </a:stretch>
            </a:blipFill>
          </p:spPr>
          <p:txBody>
            <a:bodyPr/>
            <a:lstStyle/>
            <a:p>
              <a:endParaRPr lang="en-US" sz="1200"/>
            </a:p>
          </p:txBody>
        </p:sp>
        <p:sp>
          <p:nvSpPr>
            <p:cNvPr id="8" name="Freeform 8"/>
            <p:cNvSpPr/>
            <p:nvPr/>
          </p:nvSpPr>
          <p:spPr>
            <a:xfrm>
              <a:off x="7768781" y="2003238"/>
              <a:ext cx="2213419" cy="896572"/>
            </a:xfrm>
            <a:custGeom>
              <a:avLst/>
              <a:gdLst/>
              <a:ahLst/>
              <a:cxnLst/>
              <a:rect l="l" t="t" r="r" b="b"/>
              <a:pathLst>
                <a:path w="2336358" h="1031365">
                  <a:moveTo>
                    <a:pt x="0" y="0"/>
                  </a:moveTo>
                  <a:lnTo>
                    <a:pt x="2336359" y="0"/>
                  </a:lnTo>
                  <a:lnTo>
                    <a:pt x="2336359" y="1031366"/>
                  </a:lnTo>
                  <a:lnTo>
                    <a:pt x="0" y="1031366"/>
                  </a:lnTo>
                  <a:lnTo>
                    <a:pt x="0" y="0"/>
                  </a:lnTo>
                  <a:close/>
                </a:path>
              </a:pathLst>
            </a:custGeom>
            <a:blipFill>
              <a:blip r:embed="rId6"/>
              <a:stretch>
                <a:fillRect/>
              </a:stretch>
            </a:blipFill>
          </p:spPr>
          <p:txBody>
            <a:bodyPr/>
            <a:lstStyle/>
            <a:p>
              <a:endParaRPr lang="en-US" sz="1200"/>
            </a:p>
          </p:txBody>
        </p:sp>
        <p:sp>
          <p:nvSpPr>
            <p:cNvPr id="9" name="Freeform 9"/>
            <p:cNvSpPr/>
            <p:nvPr/>
          </p:nvSpPr>
          <p:spPr>
            <a:xfrm>
              <a:off x="10343456" y="1752726"/>
              <a:ext cx="2411197" cy="1220668"/>
            </a:xfrm>
            <a:custGeom>
              <a:avLst/>
              <a:gdLst/>
              <a:ahLst/>
              <a:cxnLst/>
              <a:rect l="l" t="t" r="r" b="b"/>
              <a:pathLst>
                <a:path w="2411197" h="1220668">
                  <a:moveTo>
                    <a:pt x="0" y="0"/>
                  </a:moveTo>
                  <a:lnTo>
                    <a:pt x="2411197" y="0"/>
                  </a:lnTo>
                  <a:lnTo>
                    <a:pt x="2411197" y="1220669"/>
                  </a:lnTo>
                  <a:lnTo>
                    <a:pt x="0" y="1220669"/>
                  </a:lnTo>
                  <a:lnTo>
                    <a:pt x="0" y="0"/>
                  </a:lnTo>
                  <a:close/>
                </a:path>
              </a:pathLst>
            </a:custGeom>
            <a:blipFill>
              <a:blip r:embed="rId7"/>
              <a:stretch>
                <a:fillRect/>
              </a:stretch>
            </a:blipFill>
          </p:spPr>
          <p:txBody>
            <a:bodyPr/>
            <a:lstStyle/>
            <a:p>
              <a:endParaRPr lang="en-US" sz="1200"/>
            </a:p>
          </p:txBody>
        </p:sp>
        <p:sp>
          <p:nvSpPr>
            <p:cNvPr id="10" name="Freeform 10"/>
            <p:cNvSpPr/>
            <p:nvPr/>
          </p:nvSpPr>
          <p:spPr>
            <a:xfrm>
              <a:off x="12954000" y="1943100"/>
              <a:ext cx="3524999" cy="749062"/>
            </a:xfrm>
            <a:custGeom>
              <a:avLst/>
              <a:gdLst/>
              <a:ahLst/>
              <a:cxnLst/>
              <a:rect l="l" t="t" r="r" b="b"/>
              <a:pathLst>
                <a:path w="3524999" h="749062">
                  <a:moveTo>
                    <a:pt x="0" y="0"/>
                  </a:moveTo>
                  <a:lnTo>
                    <a:pt x="3524999" y="0"/>
                  </a:lnTo>
                  <a:lnTo>
                    <a:pt x="3524999" y="749062"/>
                  </a:lnTo>
                  <a:lnTo>
                    <a:pt x="0" y="749062"/>
                  </a:lnTo>
                  <a:lnTo>
                    <a:pt x="0" y="0"/>
                  </a:lnTo>
                  <a:close/>
                </a:path>
              </a:pathLst>
            </a:custGeom>
            <a:blipFill>
              <a:blip r:embed="rId8"/>
              <a:stretch>
                <a:fillRect/>
              </a:stretch>
            </a:blipFill>
          </p:spPr>
          <p:txBody>
            <a:bodyPr/>
            <a:lstStyle/>
            <a:p>
              <a:endParaRPr lang="en-US" sz="1200"/>
            </a:p>
          </p:txBody>
        </p:sp>
        <p:sp>
          <p:nvSpPr>
            <p:cNvPr id="11" name="Freeform 11"/>
            <p:cNvSpPr>
              <a:spLocks noChangeAspect="1"/>
            </p:cNvSpPr>
            <p:nvPr/>
          </p:nvSpPr>
          <p:spPr>
            <a:xfrm>
              <a:off x="7167391" y="3503203"/>
              <a:ext cx="2851485" cy="900000"/>
            </a:xfrm>
            <a:custGeom>
              <a:avLst/>
              <a:gdLst/>
              <a:ahLst/>
              <a:cxnLst/>
              <a:rect l="l" t="t" r="r" b="b"/>
              <a:pathLst>
                <a:path w="3035948" h="958221">
                  <a:moveTo>
                    <a:pt x="0" y="0"/>
                  </a:moveTo>
                  <a:lnTo>
                    <a:pt x="3035948" y="0"/>
                  </a:lnTo>
                  <a:lnTo>
                    <a:pt x="3035948" y="958221"/>
                  </a:lnTo>
                  <a:lnTo>
                    <a:pt x="0" y="958221"/>
                  </a:lnTo>
                  <a:lnTo>
                    <a:pt x="0" y="0"/>
                  </a:lnTo>
                  <a:close/>
                </a:path>
              </a:pathLst>
            </a:custGeom>
            <a:blipFill>
              <a:blip r:embed="rId9"/>
              <a:stretch>
                <a:fillRect/>
              </a:stretch>
            </a:blipFill>
          </p:spPr>
          <p:txBody>
            <a:bodyPr/>
            <a:lstStyle/>
            <a:p>
              <a:endParaRPr lang="en-US" sz="1200"/>
            </a:p>
          </p:txBody>
        </p:sp>
        <p:sp>
          <p:nvSpPr>
            <p:cNvPr id="12" name="Freeform 12"/>
            <p:cNvSpPr/>
            <p:nvPr/>
          </p:nvSpPr>
          <p:spPr>
            <a:xfrm>
              <a:off x="16498486" y="1591832"/>
              <a:ext cx="1345853" cy="1636397"/>
            </a:xfrm>
            <a:custGeom>
              <a:avLst/>
              <a:gdLst/>
              <a:ahLst/>
              <a:cxnLst/>
              <a:rect l="l" t="t" r="r" b="b"/>
              <a:pathLst>
                <a:path w="1556670" h="1868004">
                  <a:moveTo>
                    <a:pt x="0" y="0"/>
                  </a:moveTo>
                  <a:lnTo>
                    <a:pt x="1556670" y="0"/>
                  </a:lnTo>
                  <a:lnTo>
                    <a:pt x="1556670" y="1868004"/>
                  </a:lnTo>
                  <a:lnTo>
                    <a:pt x="0" y="1868004"/>
                  </a:lnTo>
                  <a:lnTo>
                    <a:pt x="0" y="0"/>
                  </a:lnTo>
                  <a:close/>
                </a:path>
              </a:pathLst>
            </a:custGeom>
            <a:blipFill>
              <a:blip r:embed="rId10"/>
              <a:stretch>
                <a:fillRect/>
              </a:stretch>
            </a:blipFill>
          </p:spPr>
          <p:txBody>
            <a:bodyPr/>
            <a:lstStyle/>
            <a:p>
              <a:endParaRPr lang="en-US" sz="1200"/>
            </a:p>
          </p:txBody>
        </p:sp>
        <p:sp>
          <p:nvSpPr>
            <p:cNvPr id="13" name="Freeform 13"/>
            <p:cNvSpPr>
              <a:spLocks noChangeAspect="1"/>
            </p:cNvSpPr>
            <p:nvPr/>
          </p:nvSpPr>
          <p:spPr>
            <a:xfrm>
              <a:off x="10695845" y="3185300"/>
              <a:ext cx="1420061" cy="1440000"/>
            </a:xfrm>
            <a:custGeom>
              <a:avLst/>
              <a:gdLst/>
              <a:ahLst/>
              <a:cxnLst/>
              <a:rect l="l" t="t" r="r" b="b"/>
              <a:pathLst>
                <a:path w="1679675" h="1660778">
                  <a:moveTo>
                    <a:pt x="0" y="0"/>
                  </a:moveTo>
                  <a:lnTo>
                    <a:pt x="1679675" y="0"/>
                  </a:lnTo>
                  <a:lnTo>
                    <a:pt x="1679675" y="1660779"/>
                  </a:lnTo>
                  <a:lnTo>
                    <a:pt x="0" y="1660779"/>
                  </a:lnTo>
                  <a:lnTo>
                    <a:pt x="0" y="0"/>
                  </a:lnTo>
                  <a:close/>
                </a:path>
              </a:pathLst>
            </a:custGeom>
            <a:blipFill>
              <a:blip r:embed="rId11"/>
              <a:stretch>
                <a:fillRect/>
              </a:stretch>
            </a:blipFill>
          </p:spPr>
          <p:txBody>
            <a:bodyPr/>
            <a:lstStyle/>
            <a:p>
              <a:endParaRPr lang="en-US" sz="1200"/>
            </a:p>
          </p:txBody>
        </p:sp>
        <p:sp>
          <p:nvSpPr>
            <p:cNvPr id="15" name="Freeform 15"/>
            <p:cNvSpPr>
              <a:spLocks noChangeAspect="1"/>
            </p:cNvSpPr>
            <p:nvPr/>
          </p:nvSpPr>
          <p:spPr>
            <a:xfrm>
              <a:off x="14423732" y="5069829"/>
              <a:ext cx="2831664" cy="432000"/>
            </a:xfrm>
            <a:custGeom>
              <a:avLst/>
              <a:gdLst/>
              <a:ahLst/>
              <a:cxnLst/>
              <a:rect l="l" t="t" r="r" b="b"/>
              <a:pathLst>
                <a:path w="3523743" h="559394">
                  <a:moveTo>
                    <a:pt x="0" y="0"/>
                  </a:moveTo>
                  <a:lnTo>
                    <a:pt x="3523743" y="0"/>
                  </a:lnTo>
                  <a:lnTo>
                    <a:pt x="3523743" y="559394"/>
                  </a:lnTo>
                  <a:lnTo>
                    <a:pt x="0" y="559394"/>
                  </a:lnTo>
                  <a:lnTo>
                    <a:pt x="0" y="0"/>
                  </a:lnTo>
                  <a:close/>
                </a:path>
              </a:pathLst>
            </a:custGeom>
            <a:blipFill>
              <a:blip r:embed="rId12"/>
              <a:stretch>
                <a:fillRect/>
              </a:stretch>
            </a:blipFill>
          </p:spPr>
          <p:txBody>
            <a:bodyPr/>
            <a:lstStyle/>
            <a:p>
              <a:endParaRPr lang="en-US" sz="1200" dirty="0"/>
            </a:p>
          </p:txBody>
        </p:sp>
        <p:sp>
          <p:nvSpPr>
            <p:cNvPr id="16" name="Freeform 16"/>
            <p:cNvSpPr>
              <a:spLocks noChangeAspect="1"/>
            </p:cNvSpPr>
            <p:nvPr/>
          </p:nvSpPr>
          <p:spPr>
            <a:xfrm>
              <a:off x="15558624" y="3767805"/>
              <a:ext cx="2052402" cy="648000"/>
            </a:xfrm>
            <a:custGeom>
              <a:avLst/>
              <a:gdLst/>
              <a:ahLst/>
              <a:cxnLst/>
              <a:rect l="l" t="t" r="r" b="b"/>
              <a:pathLst>
                <a:path w="2369827" h="718848">
                  <a:moveTo>
                    <a:pt x="0" y="0"/>
                  </a:moveTo>
                  <a:lnTo>
                    <a:pt x="2369827" y="0"/>
                  </a:lnTo>
                  <a:lnTo>
                    <a:pt x="2369827" y="718847"/>
                  </a:lnTo>
                  <a:lnTo>
                    <a:pt x="0" y="718847"/>
                  </a:lnTo>
                  <a:lnTo>
                    <a:pt x="0" y="0"/>
                  </a:lnTo>
                  <a:close/>
                </a:path>
              </a:pathLst>
            </a:custGeom>
            <a:blipFill>
              <a:blip r:embed="rId13"/>
              <a:stretch>
                <a:fillRect/>
              </a:stretch>
            </a:blipFill>
          </p:spPr>
          <p:txBody>
            <a:bodyPr/>
            <a:lstStyle/>
            <a:p>
              <a:endParaRPr lang="en-US" sz="1200"/>
            </a:p>
          </p:txBody>
        </p:sp>
        <p:sp>
          <p:nvSpPr>
            <p:cNvPr id="17" name="Freeform 17"/>
            <p:cNvSpPr/>
            <p:nvPr/>
          </p:nvSpPr>
          <p:spPr>
            <a:xfrm>
              <a:off x="11905961" y="4598412"/>
              <a:ext cx="2118787" cy="1459488"/>
            </a:xfrm>
            <a:custGeom>
              <a:avLst/>
              <a:gdLst/>
              <a:ahLst/>
              <a:cxnLst/>
              <a:rect l="l" t="t" r="r" b="b"/>
              <a:pathLst>
                <a:path w="2273861" h="1645707">
                  <a:moveTo>
                    <a:pt x="0" y="0"/>
                  </a:moveTo>
                  <a:lnTo>
                    <a:pt x="2273861" y="0"/>
                  </a:lnTo>
                  <a:lnTo>
                    <a:pt x="2273861" y="1645706"/>
                  </a:lnTo>
                  <a:lnTo>
                    <a:pt x="0" y="1645706"/>
                  </a:lnTo>
                  <a:lnTo>
                    <a:pt x="0" y="0"/>
                  </a:lnTo>
                  <a:close/>
                </a:path>
              </a:pathLst>
            </a:custGeom>
            <a:blipFill>
              <a:blip r:embed="rId14"/>
              <a:stretch>
                <a:fillRect/>
              </a:stretch>
            </a:blipFill>
          </p:spPr>
          <p:txBody>
            <a:bodyPr/>
            <a:lstStyle/>
            <a:p>
              <a:endParaRPr lang="en-US" sz="1200"/>
            </a:p>
          </p:txBody>
        </p:sp>
        <p:sp>
          <p:nvSpPr>
            <p:cNvPr id="18" name="Freeform 18"/>
            <p:cNvSpPr/>
            <p:nvPr/>
          </p:nvSpPr>
          <p:spPr>
            <a:xfrm>
              <a:off x="7626380" y="4695665"/>
              <a:ext cx="3740051" cy="1145391"/>
            </a:xfrm>
            <a:custGeom>
              <a:avLst/>
              <a:gdLst/>
              <a:ahLst/>
              <a:cxnLst/>
              <a:rect l="l" t="t" r="r" b="b"/>
              <a:pathLst>
                <a:path w="3740051" h="1145391">
                  <a:moveTo>
                    <a:pt x="0" y="0"/>
                  </a:moveTo>
                  <a:lnTo>
                    <a:pt x="3740050" y="0"/>
                  </a:lnTo>
                  <a:lnTo>
                    <a:pt x="3740050" y="1145390"/>
                  </a:lnTo>
                  <a:lnTo>
                    <a:pt x="0" y="1145390"/>
                  </a:lnTo>
                  <a:lnTo>
                    <a:pt x="0" y="0"/>
                  </a:lnTo>
                  <a:close/>
                </a:path>
              </a:pathLst>
            </a:custGeom>
            <a:blipFill>
              <a:blip r:embed="rId15"/>
              <a:stretch>
                <a:fillRect/>
              </a:stretch>
            </a:blipFill>
          </p:spPr>
          <p:txBody>
            <a:bodyPr/>
            <a:lstStyle/>
            <a:p>
              <a:endParaRPr lang="en-US" sz="1200"/>
            </a:p>
          </p:txBody>
        </p:sp>
      </p:grpSp>
      <p:grpSp>
        <p:nvGrpSpPr>
          <p:cNvPr id="21" name="Group 21"/>
          <p:cNvGrpSpPr/>
          <p:nvPr/>
        </p:nvGrpSpPr>
        <p:grpSpPr>
          <a:xfrm>
            <a:off x="472393" y="4628222"/>
            <a:ext cx="11668808" cy="2263129"/>
            <a:chOff x="85438" y="-213745"/>
            <a:chExt cx="23337616" cy="4526257"/>
          </a:xfrm>
        </p:grpSpPr>
        <p:sp>
          <p:nvSpPr>
            <p:cNvPr id="22" name="TextBox 22"/>
            <p:cNvSpPr txBox="1"/>
            <p:nvPr/>
          </p:nvSpPr>
          <p:spPr>
            <a:xfrm>
              <a:off x="85438" y="-213745"/>
              <a:ext cx="4199982" cy="595804"/>
            </a:xfrm>
            <a:prstGeom prst="rect">
              <a:avLst/>
            </a:prstGeom>
          </p:spPr>
          <p:txBody>
            <a:bodyPr wrap="square" lIns="0" tIns="0" rIns="0" bIns="0" rtlCol="0" anchor="t">
              <a:spAutoFit/>
            </a:bodyPr>
            <a:lstStyle/>
            <a:p>
              <a:pPr algn="ctr">
                <a:lnSpc>
                  <a:spcPts val="2613"/>
                </a:lnSpc>
              </a:pPr>
              <a:r>
                <a:rPr lang="en-US" sz="1866" b="1" dirty="0">
                  <a:solidFill>
                    <a:srgbClr val="37454F"/>
                  </a:solidFill>
                  <a:latin typeface="Barlow Condensed Semi-Bold"/>
                  <a:ea typeface="Barlow Condensed Semi-Bold"/>
                  <a:cs typeface="Barlow Condensed Semi-Bold"/>
                  <a:sym typeface="Barlow Condensed Semi-Bold"/>
                </a:rPr>
                <a:t>Contributors 2023-2026</a:t>
              </a:r>
            </a:p>
          </p:txBody>
        </p:sp>
        <p:sp>
          <p:nvSpPr>
            <p:cNvPr id="23" name="TextBox 23"/>
            <p:cNvSpPr txBox="1"/>
            <p:nvPr/>
          </p:nvSpPr>
          <p:spPr>
            <a:xfrm>
              <a:off x="216532" y="517949"/>
              <a:ext cx="4496872" cy="3440685"/>
            </a:xfrm>
            <a:prstGeom prst="rect">
              <a:avLst/>
            </a:prstGeom>
          </p:spPr>
          <p:txBody>
            <a:bodyPr lIns="0" tIns="0" rIns="0" bIns="0" rtlCol="0" anchor="t">
              <a:spAutoFit/>
            </a:bodyPr>
            <a:lstStyle/>
            <a:p>
              <a:pPr>
                <a:lnSpc>
                  <a:spcPts val="1680"/>
                </a:lnSpc>
              </a:pPr>
              <a:r>
                <a:rPr lang="en-US" sz="1200" dirty="0">
                  <a:solidFill>
                    <a:srgbClr val="011E2D"/>
                  </a:solidFill>
                  <a:latin typeface="Barlow"/>
                  <a:ea typeface="Barlow"/>
                  <a:cs typeface="Barlow"/>
                  <a:sym typeface="Barlow"/>
                </a:rPr>
                <a:t>Agile Mining </a:t>
              </a:r>
            </a:p>
            <a:p>
              <a:pPr>
                <a:lnSpc>
                  <a:spcPts val="1680"/>
                </a:lnSpc>
              </a:pPr>
              <a:r>
                <a:rPr lang="en-US" sz="1200" dirty="0">
                  <a:solidFill>
                    <a:srgbClr val="011E2D"/>
                  </a:solidFill>
                  <a:latin typeface="Barlow"/>
                  <a:ea typeface="Barlow"/>
                  <a:cs typeface="Barlow"/>
                  <a:sym typeface="Barlow"/>
                </a:rPr>
                <a:t>Alliance for Responsible Mining </a:t>
              </a:r>
            </a:p>
            <a:p>
              <a:pPr>
                <a:lnSpc>
                  <a:spcPts val="1680"/>
                </a:lnSpc>
              </a:pPr>
              <a:r>
                <a:rPr lang="en-US" sz="1200" dirty="0">
                  <a:solidFill>
                    <a:srgbClr val="011E2D"/>
                  </a:solidFill>
                  <a:latin typeface="Barlow"/>
                  <a:ea typeface="Barlow"/>
                  <a:cs typeface="Barlow"/>
                  <a:sym typeface="Barlow"/>
                </a:rPr>
                <a:t>Arc International </a:t>
              </a:r>
            </a:p>
            <a:p>
              <a:pPr>
                <a:lnSpc>
                  <a:spcPts val="1680"/>
                </a:lnSpc>
              </a:pPr>
              <a:r>
                <a:rPr lang="en-US" sz="1200" dirty="0">
                  <a:solidFill>
                    <a:srgbClr val="011E2D"/>
                  </a:solidFill>
                  <a:latin typeface="Barlow"/>
                  <a:ea typeface="Barlow"/>
                  <a:cs typeface="Barlow"/>
                  <a:sym typeface="Barlow"/>
                </a:rPr>
                <a:t>Architecture 2030 </a:t>
              </a:r>
            </a:p>
            <a:p>
              <a:pPr>
                <a:lnSpc>
                  <a:spcPts val="1680"/>
                </a:lnSpc>
              </a:pPr>
              <a:r>
                <a:rPr lang="en-US" sz="1200" dirty="0">
                  <a:solidFill>
                    <a:srgbClr val="011E2D"/>
                  </a:solidFill>
                  <a:latin typeface="Barlow"/>
                  <a:ea typeface="Barlow"/>
                  <a:cs typeface="Barlow"/>
                  <a:sym typeface="Barlow"/>
                </a:rPr>
                <a:t>ArcelorMittal </a:t>
              </a:r>
            </a:p>
            <a:p>
              <a:pPr>
                <a:lnSpc>
                  <a:spcPts val="1680"/>
                </a:lnSpc>
              </a:pPr>
              <a:r>
                <a:rPr lang="en-US" sz="1200" dirty="0">
                  <a:solidFill>
                    <a:srgbClr val="011E2D"/>
                  </a:solidFill>
                  <a:latin typeface="Barlow"/>
                  <a:ea typeface="Barlow"/>
                  <a:cs typeface="Barlow"/>
                  <a:sym typeface="Barlow"/>
                </a:rPr>
                <a:t>BA Glass </a:t>
              </a:r>
            </a:p>
            <a:p>
              <a:pPr>
                <a:lnSpc>
                  <a:spcPts val="1680"/>
                </a:lnSpc>
              </a:pPr>
              <a:r>
                <a:rPr lang="en-US" sz="1200" dirty="0">
                  <a:solidFill>
                    <a:srgbClr val="011E2D"/>
                  </a:solidFill>
                  <a:latin typeface="Barlow"/>
                  <a:ea typeface="Barlow"/>
                  <a:cs typeface="Barlow"/>
                  <a:sym typeface="Barlow"/>
                </a:rPr>
                <a:t>Bellona Europa </a:t>
              </a:r>
            </a:p>
            <a:p>
              <a:pPr>
                <a:lnSpc>
                  <a:spcPts val="1680"/>
                </a:lnSpc>
              </a:pPr>
              <a:r>
                <a:rPr lang="en-US" sz="1200" dirty="0">
                  <a:solidFill>
                    <a:srgbClr val="011E2D"/>
                  </a:solidFill>
                  <a:latin typeface="Barlow"/>
                  <a:ea typeface="Barlow"/>
                  <a:cs typeface="Barlow"/>
                  <a:sym typeface="Barlow"/>
                </a:rPr>
                <a:t>BMW Group </a:t>
              </a:r>
            </a:p>
          </p:txBody>
        </p:sp>
        <p:sp>
          <p:nvSpPr>
            <p:cNvPr id="24" name="TextBox 24"/>
            <p:cNvSpPr txBox="1"/>
            <p:nvPr/>
          </p:nvSpPr>
          <p:spPr>
            <a:xfrm>
              <a:off x="4548302" y="517949"/>
              <a:ext cx="4134466" cy="3440685"/>
            </a:xfrm>
            <a:prstGeom prst="rect">
              <a:avLst/>
            </a:prstGeom>
          </p:spPr>
          <p:txBody>
            <a:bodyPr lIns="0" tIns="0" rIns="0" bIns="0" rtlCol="0" anchor="t">
              <a:spAutoFit/>
            </a:bodyPr>
            <a:lstStyle/>
            <a:p>
              <a:pPr>
                <a:lnSpc>
                  <a:spcPts val="1680"/>
                </a:lnSpc>
                <a:spcBef>
                  <a:spcPct val="0"/>
                </a:spcBef>
              </a:pPr>
              <a:r>
                <a:rPr lang="en-US" sz="1200" dirty="0">
                  <a:solidFill>
                    <a:srgbClr val="011E2D"/>
                  </a:solidFill>
                  <a:latin typeface="Barlow"/>
                  <a:ea typeface="Barlow"/>
                  <a:cs typeface="Barlow"/>
                  <a:sym typeface="Barlow"/>
                </a:rPr>
                <a:t>Bureau Brussels Consulting </a:t>
              </a:r>
            </a:p>
            <a:p>
              <a:pPr>
                <a:lnSpc>
                  <a:spcPts val="1680"/>
                </a:lnSpc>
                <a:spcBef>
                  <a:spcPct val="0"/>
                </a:spcBef>
              </a:pPr>
              <a:r>
                <a:rPr lang="en-US" sz="1200" dirty="0">
                  <a:solidFill>
                    <a:srgbClr val="011E2D"/>
                  </a:solidFill>
                  <a:latin typeface="Barlow"/>
                  <a:ea typeface="Barlow"/>
                  <a:cs typeface="Barlow"/>
                  <a:sym typeface="Barlow"/>
                </a:rPr>
                <a:t>Concrete Sustainability Council </a:t>
              </a:r>
            </a:p>
            <a:p>
              <a:pPr>
                <a:lnSpc>
                  <a:spcPts val="1680"/>
                </a:lnSpc>
                <a:spcBef>
                  <a:spcPct val="0"/>
                </a:spcBef>
              </a:pPr>
              <a:r>
                <a:rPr lang="en-US" sz="1200" dirty="0">
                  <a:solidFill>
                    <a:srgbClr val="011E2D"/>
                  </a:solidFill>
                  <a:latin typeface="Barlow"/>
                  <a:ea typeface="Barlow"/>
                  <a:cs typeface="Barlow"/>
                  <a:sym typeface="Barlow"/>
                </a:rPr>
                <a:t>Cosentino </a:t>
              </a:r>
            </a:p>
            <a:p>
              <a:pPr>
                <a:lnSpc>
                  <a:spcPts val="1680"/>
                </a:lnSpc>
                <a:spcBef>
                  <a:spcPct val="0"/>
                </a:spcBef>
              </a:pPr>
              <a:r>
                <a:rPr lang="en-US" sz="1200" dirty="0">
                  <a:solidFill>
                    <a:srgbClr val="011E2D"/>
                  </a:solidFill>
                  <a:latin typeface="Barlow"/>
                  <a:ea typeface="Barlow"/>
                  <a:cs typeface="Barlow"/>
                  <a:sym typeface="Barlow"/>
                </a:rPr>
                <a:t>EPRM </a:t>
              </a:r>
            </a:p>
            <a:p>
              <a:pPr>
                <a:lnSpc>
                  <a:spcPts val="1680"/>
                </a:lnSpc>
                <a:spcBef>
                  <a:spcPct val="0"/>
                </a:spcBef>
              </a:pPr>
              <a:r>
                <a:rPr lang="en-US" sz="1200" dirty="0">
                  <a:solidFill>
                    <a:srgbClr val="011E2D"/>
                  </a:solidFill>
                  <a:latin typeface="Barlow"/>
                  <a:ea typeface="Barlow"/>
                  <a:cs typeface="Barlow"/>
                  <a:sym typeface="Barlow"/>
                </a:rPr>
                <a:t>GAIN</a:t>
              </a:r>
            </a:p>
            <a:p>
              <a:pPr>
                <a:lnSpc>
                  <a:spcPts val="1680"/>
                </a:lnSpc>
                <a:spcBef>
                  <a:spcPct val="0"/>
                </a:spcBef>
              </a:pPr>
              <a:r>
                <a:rPr lang="en-US" sz="1200" dirty="0">
                  <a:solidFill>
                    <a:srgbClr val="011E2D"/>
                  </a:solidFill>
                  <a:latin typeface="Barlow"/>
                  <a:ea typeface="Barlow"/>
                  <a:cs typeface="Barlow"/>
                  <a:sym typeface="Barlow"/>
                </a:rPr>
                <a:t>GIZ </a:t>
              </a:r>
            </a:p>
            <a:p>
              <a:pPr>
                <a:lnSpc>
                  <a:spcPts val="1680"/>
                </a:lnSpc>
                <a:spcBef>
                  <a:spcPct val="0"/>
                </a:spcBef>
              </a:pPr>
              <a:r>
                <a:rPr lang="en-US" sz="1200" dirty="0">
                  <a:solidFill>
                    <a:srgbClr val="011E2D"/>
                  </a:solidFill>
                  <a:latin typeface="Barlow"/>
                  <a:ea typeface="Barlow"/>
                  <a:cs typeface="Barlow"/>
                  <a:sym typeface="Barlow"/>
                </a:rPr>
                <a:t>Global Infrastructure Basel</a:t>
              </a:r>
            </a:p>
            <a:p>
              <a:pPr>
                <a:lnSpc>
                  <a:spcPts val="1680"/>
                </a:lnSpc>
                <a:spcBef>
                  <a:spcPct val="0"/>
                </a:spcBef>
              </a:pPr>
              <a:r>
                <a:rPr lang="en-US" sz="1200" dirty="0">
                  <a:solidFill>
                    <a:srgbClr val="011E2D"/>
                  </a:solidFill>
                  <a:latin typeface="Barlow"/>
                  <a:ea typeface="Barlow"/>
                  <a:cs typeface="Barlow"/>
                  <a:sym typeface="Barlow"/>
                </a:rPr>
                <a:t>Green Building Alliance </a:t>
              </a:r>
            </a:p>
          </p:txBody>
        </p:sp>
        <p:sp>
          <p:nvSpPr>
            <p:cNvPr id="25" name="TextBox 25"/>
            <p:cNvSpPr txBox="1"/>
            <p:nvPr/>
          </p:nvSpPr>
          <p:spPr>
            <a:xfrm>
              <a:off x="8948292" y="334211"/>
              <a:ext cx="4134466" cy="3876701"/>
            </a:xfrm>
            <a:prstGeom prst="rect">
              <a:avLst/>
            </a:prstGeom>
          </p:spPr>
          <p:txBody>
            <a:bodyPr lIns="0" tIns="0" rIns="0" bIns="0" rtlCol="0" anchor="t">
              <a:spAutoFit/>
            </a:bodyPr>
            <a:lstStyle/>
            <a:p>
              <a:pPr>
                <a:lnSpc>
                  <a:spcPts val="1680"/>
                </a:lnSpc>
                <a:spcBef>
                  <a:spcPct val="0"/>
                </a:spcBef>
              </a:pPr>
              <a:r>
                <a:rPr lang="en-US" sz="1200" dirty="0">
                  <a:solidFill>
                    <a:srgbClr val="011E2D"/>
                  </a:solidFill>
                  <a:latin typeface="Barlow"/>
                  <a:ea typeface="Barlow"/>
                  <a:cs typeface="Barlow"/>
                  <a:sym typeface="Barlow"/>
                </a:rPr>
                <a:t>H&amp;M </a:t>
              </a:r>
            </a:p>
            <a:p>
              <a:pPr>
                <a:lnSpc>
                  <a:spcPts val="1680"/>
                </a:lnSpc>
                <a:spcBef>
                  <a:spcPct val="0"/>
                </a:spcBef>
              </a:pPr>
              <a:r>
                <a:rPr lang="en-US" sz="1200" dirty="0">
                  <a:solidFill>
                    <a:srgbClr val="011E2D"/>
                  </a:solidFill>
                  <a:latin typeface="Barlow"/>
                  <a:ea typeface="Barlow"/>
                  <a:cs typeface="Barlow"/>
                  <a:sym typeface="Barlow"/>
                </a:rPr>
                <a:t>Holcim </a:t>
              </a:r>
            </a:p>
            <a:p>
              <a:pPr>
                <a:lnSpc>
                  <a:spcPts val="1680"/>
                </a:lnSpc>
                <a:spcBef>
                  <a:spcPct val="0"/>
                </a:spcBef>
              </a:pPr>
              <a:r>
                <a:rPr lang="en-US" sz="1200" dirty="0">
                  <a:solidFill>
                    <a:srgbClr val="011E2D"/>
                  </a:solidFill>
                  <a:latin typeface="Barlow"/>
                  <a:ea typeface="Barlow"/>
                  <a:cs typeface="Barlow"/>
                  <a:sym typeface="Barlow"/>
                </a:rPr>
                <a:t>ICMM </a:t>
              </a:r>
            </a:p>
            <a:p>
              <a:pPr>
                <a:lnSpc>
                  <a:spcPts val="1680"/>
                </a:lnSpc>
                <a:spcBef>
                  <a:spcPct val="0"/>
                </a:spcBef>
              </a:pPr>
              <a:r>
                <a:rPr lang="en-US" sz="1200" dirty="0">
                  <a:solidFill>
                    <a:srgbClr val="011E2D"/>
                  </a:solidFill>
                  <a:latin typeface="Barlow"/>
                  <a:ea typeface="Barlow"/>
                  <a:cs typeface="Barlow"/>
                  <a:sym typeface="Barlow"/>
                </a:rPr>
                <a:t>IHRB </a:t>
              </a:r>
            </a:p>
            <a:p>
              <a:pPr>
                <a:lnSpc>
                  <a:spcPts val="1680"/>
                </a:lnSpc>
                <a:spcBef>
                  <a:spcPct val="0"/>
                </a:spcBef>
              </a:pPr>
              <a:r>
                <a:rPr lang="en-US" sz="1200" dirty="0">
                  <a:solidFill>
                    <a:srgbClr val="011E2D"/>
                  </a:solidFill>
                  <a:latin typeface="Barlow"/>
                  <a:ea typeface="Barlow"/>
                  <a:cs typeface="Barlow"/>
                  <a:sym typeface="Barlow"/>
                </a:rPr>
                <a:t>IISD/IGF</a:t>
              </a:r>
            </a:p>
            <a:p>
              <a:pPr>
                <a:lnSpc>
                  <a:spcPts val="1680"/>
                </a:lnSpc>
                <a:spcBef>
                  <a:spcPct val="0"/>
                </a:spcBef>
              </a:pPr>
              <a:r>
                <a:rPr lang="en-US" sz="1200" dirty="0">
                  <a:solidFill>
                    <a:srgbClr val="011E2D"/>
                  </a:solidFill>
                  <a:latin typeface="Barlow"/>
                  <a:ea typeface="Barlow"/>
                  <a:cs typeface="Barlow"/>
                  <a:sym typeface="Barlow"/>
                </a:rPr>
                <a:t>IMA-Europe </a:t>
              </a:r>
            </a:p>
            <a:p>
              <a:pPr>
                <a:lnSpc>
                  <a:spcPts val="1680"/>
                </a:lnSpc>
                <a:spcBef>
                  <a:spcPct val="0"/>
                </a:spcBef>
              </a:pPr>
              <a:r>
                <a:rPr lang="en-US" sz="1200" dirty="0">
                  <a:solidFill>
                    <a:srgbClr val="011E2D"/>
                  </a:solidFill>
                  <a:latin typeface="Barlow"/>
                  <a:ea typeface="Barlow"/>
                  <a:cs typeface="Barlow"/>
                  <a:sym typeface="Barlow"/>
                </a:rPr>
                <a:t>Infineon</a:t>
              </a:r>
            </a:p>
            <a:p>
              <a:pPr>
                <a:lnSpc>
                  <a:spcPts val="1680"/>
                </a:lnSpc>
                <a:spcBef>
                  <a:spcPct val="0"/>
                </a:spcBef>
              </a:pPr>
              <a:r>
                <a:rPr lang="en-US" sz="1200" dirty="0">
                  <a:solidFill>
                    <a:srgbClr val="011E2D"/>
                  </a:solidFill>
                  <a:latin typeface="Barlow"/>
                  <a:ea typeface="Barlow"/>
                  <a:cs typeface="Barlow"/>
                  <a:sym typeface="Barlow"/>
                </a:rPr>
                <a:t>Intel  </a:t>
              </a:r>
            </a:p>
            <a:p>
              <a:pPr>
                <a:lnSpc>
                  <a:spcPts val="1680"/>
                </a:lnSpc>
                <a:spcBef>
                  <a:spcPct val="0"/>
                </a:spcBef>
              </a:pPr>
              <a:r>
                <a:rPr lang="en-US" sz="1200" dirty="0">
                  <a:solidFill>
                    <a:srgbClr val="011E2D"/>
                  </a:solidFill>
                  <a:latin typeface="Barlow"/>
                  <a:ea typeface="Barlow"/>
                  <a:cs typeface="Barlow"/>
                  <a:sym typeface="Barlow"/>
                </a:rPr>
                <a:t>IADC</a:t>
              </a:r>
            </a:p>
          </p:txBody>
        </p:sp>
        <p:sp>
          <p:nvSpPr>
            <p:cNvPr id="26" name="TextBox 26"/>
            <p:cNvSpPr txBox="1"/>
            <p:nvPr/>
          </p:nvSpPr>
          <p:spPr>
            <a:xfrm>
              <a:off x="11015524" y="435811"/>
              <a:ext cx="4134466" cy="3876701"/>
            </a:xfrm>
            <a:prstGeom prst="rect">
              <a:avLst/>
            </a:prstGeom>
          </p:spPr>
          <p:txBody>
            <a:bodyPr lIns="0" tIns="0" rIns="0" bIns="0" rtlCol="0" anchor="t">
              <a:spAutoFit/>
            </a:bodyPr>
            <a:lstStyle/>
            <a:p>
              <a:pPr>
                <a:lnSpc>
                  <a:spcPts val="1680"/>
                </a:lnSpc>
                <a:spcBef>
                  <a:spcPct val="0"/>
                </a:spcBef>
              </a:pPr>
              <a:r>
                <a:rPr lang="en-US" sz="1200" dirty="0">
                  <a:solidFill>
                    <a:srgbClr val="011E2D"/>
                  </a:solidFill>
                  <a:latin typeface="Barlow"/>
                  <a:ea typeface="Barlow"/>
                  <a:cs typeface="Barlow"/>
                  <a:sym typeface="Barlow"/>
                </a:rPr>
                <a:t>IRMA </a:t>
              </a:r>
            </a:p>
            <a:p>
              <a:pPr>
                <a:lnSpc>
                  <a:spcPts val="1680"/>
                </a:lnSpc>
                <a:spcBef>
                  <a:spcPct val="0"/>
                </a:spcBef>
              </a:pPr>
              <a:r>
                <a:rPr lang="en-US" sz="1200" dirty="0" err="1">
                  <a:solidFill>
                    <a:srgbClr val="011E2D"/>
                  </a:solidFill>
                  <a:latin typeface="Barlow"/>
                  <a:ea typeface="Barlow"/>
                  <a:cs typeface="Barlow"/>
                  <a:sym typeface="Barlow"/>
                </a:rPr>
                <a:t>Jundu</a:t>
              </a:r>
              <a:r>
                <a:rPr lang="en-US" sz="1200" dirty="0">
                  <a:solidFill>
                    <a:srgbClr val="011E2D"/>
                  </a:solidFill>
                  <a:latin typeface="Barlow"/>
                  <a:ea typeface="Barlow"/>
                  <a:cs typeface="Barlow"/>
                  <a:sym typeface="Barlow"/>
                </a:rPr>
                <a:t> </a:t>
              </a:r>
            </a:p>
            <a:p>
              <a:pPr>
                <a:lnSpc>
                  <a:spcPts val="1680"/>
                </a:lnSpc>
                <a:spcBef>
                  <a:spcPct val="0"/>
                </a:spcBef>
              </a:pPr>
              <a:r>
                <a:rPr lang="en-US" sz="1200" dirty="0">
                  <a:solidFill>
                    <a:srgbClr val="011E2D"/>
                  </a:solidFill>
                  <a:latin typeface="Barlow"/>
                  <a:ea typeface="Barlow"/>
                  <a:cs typeface="Barlow"/>
                  <a:sym typeface="Barlow"/>
                </a:rPr>
                <a:t>Mercedes-Benz AG </a:t>
              </a:r>
            </a:p>
            <a:p>
              <a:pPr>
                <a:lnSpc>
                  <a:spcPts val="1680"/>
                </a:lnSpc>
                <a:spcBef>
                  <a:spcPct val="0"/>
                </a:spcBef>
              </a:pPr>
              <a:r>
                <a:rPr lang="en-US" sz="1200" dirty="0">
                  <a:solidFill>
                    <a:srgbClr val="011E2D"/>
                  </a:solidFill>
                  <a:latin typeface="Barlow"/>
                  <a:ea typeface="Barlow"/>
                  <a:cs typeface="Barlow"/>
                  <a:sym typeface="Barlow"/>
                </a:rPr>
                <a:t>OECD </a:t>
              </a:r>
            </a:p>
            <a:p>
              <a:pPr>
                <a:lnSpc>
                  <a:spcPts val="1680"/>
                </a:lnSpc>
                <a:spcBef>
                  <a:spcPct val="0"/>
                </a:spcBef>
              </a:pPr>
              <a:r>
                <a:rPr lang="en-US" sz="1200" dirty="0">
                  <a:solidFill>
                    <a:srgbClr val="011E2D"/>
                  </a:solidFill>
                  <a:latin typeface="Barlow"/>
                  <a:ea typeface="Barlow"/>
                  <a:cs typeface="Barlow"/>
                  <a:sym typeface="Barlow"/>
                </a:rPr>
                <a:t>Responsible Glass </a:t>
              </a:r>
            </a:p>
            <a:p>
              <a:pPr>
                <a:lnSpc>
                  <a:spcPts val="1680"/>
                </a:lnSpc>
                <a:spcBef>
                  <a:spcPct val="0"/>
                </a:spcBef>
              </a:pPr>
              <a:r>
                <a:rPr lang="en-US" sz="1200" dirty="0">
                  <a:solidFill>
                    <a:srgbClr val="011E2D"/>
                  </a:solidFill>
                  <a:latin typeface="Barlow"/>
                  <a:ea typeface="Barlow"/>
                  <a:cs typeface="Barlow"/>
                  <a:sym typeface="Barlow"/>
                </a:rPr>
                <a:t>Responsible Mica Initiative </a:t>
              </a:r>
            </a:p>
            <a:p>
              <a:pPr>
                <a:lnSpc>
                  <a:spcPts val="1680"/>
                </a:lnSpc>
                <a:spcBef>
                  <a:spcPct val="0"/>
                </a:spcBef>
              </a:pPr>
              <a:r>
                <a:rPr lang="en-US" sz="1200" dirty="0">
                  <a:solidFill>
                    <a:srgbClr val="011E2D"/>
                  </a:solidFill>
                  <a:latin typeface="Barlow"/>
                  <a:ea typeface="Barlow"/>
                  <a:cs typeface="Barlow"/>
                  <a:sym typeface="Barlow"/>
                </a:rPr>
                <a:t>RMI</a:t>
              </a:r>
            </a:p>
            <a:p>
              <a:pPr>
                <a:lnSpc>
                  <a:spcPts val="1680"/>
                </a:lnSpc>
                <a:spcBef>
                  <a:spcPct val="0"/>
                </a:spcBef>
              </a:pPr>
              <a:r>
                <a:rPr lang="en-US" sz="1200" dirty="0" err="1">
                  <a:solidFill>
                    <a:srgbClr val="011E2D"/>
                  </a:solidFill>
                  <a:latin typeface="Barlow"/>
                  <a:ea typeface="Barlow"/>
                  <a:cs typeface="Barlow"/>
                  <a:sym typeface="Barlow"/>
                </a:rPr>
                <a:t>RiaStone</a:t>
              </a:r>
              <a:endParaRPr lang="en-US" sz="1200" dirty="0">
                <a:solidFill>
                  <a:srgbClr val="011E2D"/>
                </a:solidFill>
                <a:latin typeface="Barlow"/>
                <a:ea typeface="Barlow"/>
                <a:cs typeface="Barlow"/>
                <a:sym typeface="Barlow"/>
              </a:endParaRPr>
            </a:p>
            <a:p>
              <a:pPr>
                <a:lnSpc>
                  <a:spcPts val="1680"/>
                </a:lnSpc>
                <a:spcBef>
                  <a:spcPct val="0"/>
                </a:spcBef>
              </a:pPr>
              <a:endParaRPr lang="en-US" sz="1200" dirty="0">
                <a:solidFill>
                  <a:srgbClr val="011E2D"/>
                </a:solidFill>
                <a:latin typeface="Barlow"/>
                <a:ea typeface="Barlow"/>
                <a:cs typeface="Barlow"/>
                <a:sym typeface="Barlow"/>
              </a:endParaRPr>
            </a:p>
          </p:txBody>
        </p:sp>
        <p:sp>
          <p:nvSpPr>
            <p:cNvPr id="27" name="TextBox 27"/>
            <p:cNvSpPr txBox="1"/>
            <p:nvPr/>
          </p:nvSpPr>
          <p:spPr>
            <a:xfrm>
              <a:off x="14674116" y="517947"/>
              <a:ext cx="4134466" cy="3440685"/>
            </a:xfrm>
            <a:prstGeom prst="rect">
              <a:avLst/>
            </a:prstGeom>
          </p:spPr>
          <p:txBody>
            <a:bodyPr lIns="0" tIns="0" rIns="0" bIns="0" rtlCol="0" anchor="t">
              <a:spAutoFit/>
            </a:bodyPr>
            <a:lstStyle/>
            <a:p>
              <a:pPr>
                <a:lnSpc>
                  <a:spcPts val="1680"/>
                </a:lnSpc>
                <a:spcBef>
                  <a:spcPct val="0"/>
                </a:spcBef>
              </a:pPr>
              <a:r>
                <a:rPr lang="en-US" sz="1200" dirty="0">
                  <a:solidFill>
                    <a:srgbClr val="011E2D"/>
                  </a:solidFill>
                  <a:latin typeface="Barlow"/>
                  <a:ea typeface="Barlow"/>
                  <a:cs typeface="Barlow"/>
                  <a:sym typeface="Barlow"/>
                </a:rPr>
                <a:t>Solar Stewardship Initiative Statkraft AS STMicroelectronics </a:t>
              </a:r>
            </a:p>
            <a:p>
              <a:pPr>
                <a:lnSpc>
                  <a:spcPts val="1680"/>
                </a:lnSpc>
                <a:spcBef>
                  <a:spcPct val="0"/>
                </a:spcBef>
              </a:pPr>
              <a:r>
                <a:rPr lang="en-US" sz="1200" dirty="0">
                  <a:solidFill>
                    <a:srgbClr val="011E2D"/>
                  </a:solidFill>
                  <a:latin typeface="Barlow"/>
                  <a:ea typeface="Barlow"/>
                  <a:cs typeface="Barlow"/>
                  <a:sym typeface="Barlow"/>
                </a:rPr>
                <a:t>Stockholm Resilience Centre </a:t>
              </a:r>
              <a:r>
                <a:rPr lang="en-US" sz="1200" dirty="0" err="1">
                  <a:solidFill>
                    <a:srgbClr val="011E2D"/>
                  </a:solidFill>
                  <a:latin typeface="Barlow"/>
                  <a:ea typeface="Barlow"/>
                  <a:cs typeface="Barlow"/>
                  <a:sym typeface="Barlow"/>
                </a:rPr>
                <a:t>TDi</a:t>
              </a:r>
              <a:r>
                <a:rPr lang="en-US" sz="1200" dirty="0">
                  <a:solidFill>
                    <a:srgbClr val="011E2D"/>
                  </a:solidFill>
                  <a:latin typeface="Barlow"/>
                  <a:ea typeface="Barlow"/>
                  <a:cs typeface="Barlow"/>
                  <a:sym typeface="Barlow"/>
                </a:rPr>
                <a:t> Sustainability </a:t>
              </a:r>
            </a:p>
            <a:p>
              <a:pPr>
                <a:lnSpc>
                  <a:spcPts val="1680"/>
                </a:lnSpc>
                <a:spcBef>
                  <a:spcPct val="0"/>
                </a:spcBef>
              </a:pPr>
              <a:r>
                <a:rPr lang="en-US" sz="1200" dirty="0">
                  <a:solidFill>
                    <a:srgbClr val="011E2D"/>
                  </a:solidFill>
                  <a:latin typeface="Barlow"/>
                  <a:ea typeface="Barlow"/>
                  <a:cs typeface="Barlow"/>
                  <a:sym typeface="Barlow"/>
                </a:rPr>
                <a:t>Trafigura </a:t>
              </a:r>
            </a:p>
            <a:p>
              <a:pPr>
                <a:lnSpc>
                  <a:spcPts val="1680"/>
                </a:lnSpc>
                <a:spcBef>
                  <a:spcPct val="0"/>
                </a:spcBef>
              </a:pPr>
              <a:r>
                <a:rPr lang="en-US" sz="1200" dirty="0">
                  <a:solidFill>
                    <a:srgbClr val="011E2D"/>
                  </a:solidFill>
                  <a:latin typeface="Barlow"/>
                  <a:ea typeface="Barlow"/>
                  <a:cs typeface="Barlow"/>
                  <a:sym typeface="Barlow"/>
                </a:rPr>
                <a:t>UNDP </a:t>
              </a:r>
            </a:p>
            <a:p>
              <a:pPr>
                <a:lnSpc>
                  <a:spcPts val="1680"/>
                </a:lnSpc>
                <a:spcBef>
                  <a:spcPct val="0"/>
                </a:spcBef>
              </a:pPr>
              <a:r>
                <a:rPr lang="en-US" sz="1200" dirty="0">
                  <a:solidFill>
                    <a:srgbClr val="011E2D"/>
                  </a:solidFill>
                  <a:latin typeface="Barlow"/>
                  <a:ea typeface="Barlow"/>
                  <a:cs typeface="Barlow"/>
                  <a:sym typeface="Barlow"/>
                </a:rPr>
                <a:t>UNEP </a:t>
              </a:r>
            </a:p>
          </p:txBody>
        </p:sp>
        <p:sp>
          <p:nvSpPr>
            <p:cNvPr id="28" name="TextBox 28"/>
            <p:cNvSpPr txBox="1"/>
            <p:nvPr/>
          </p:nvSpPr>
          <p:spPr>
            <a:xfrm>
              <a:off x="18666098" y="517949"/>
              <a:ext cx="4756956" cy="2568651"/>
            </a:xfrm>
            <a:prstGeom prst="rect">
              <a:avLst/>
            </a:prstGeom>
          </p:spPr>
          <p:txBody>
            <a:bodyPr lIns="0" tIns="0" rIns="0" bIns="0" rtlCol="0" anchor="t">
              <a:spAutoFit/>
            </a:bodyPr>
            <a:lstStyle/>
            <a:p>
              <a:pPr>
                <a:lnSpc>
                  <a:spcPts val="1680"/>
                </a:lnSpc>
                <a:spcBef>
                  <a:spcPct val="0"/>
                </a:spcBef>
              </a:pPr>
              <a:r>
                <a:rPr lang="en-US" sz="1200" dirty="0">
                  <a:solidFill>
                    <a:srgbClr val="011E2D"/>
                  </a:solidFill>
                  <a:latin typeface="Barlow"/>
                  <a:ea typeface="Barlow"/>
                  <a:cs typeface="Barlow"/>
                  <a:sym typeface="Barlow"/>
                </a:rPr>
                <a:t>UNEP/GRID-Geneva </a:t>
              </a:r>
            </a:p>
            <a:p>
              <a:pPr>
                <a:lnSpc>
                  <a:spcPts val="1680"/>
                </a:lnSpc>
                <a:spcBef>
                  <a:spcPct val="0"/>
                </a:spcBef>
              </a:pPr>
              <a:r>
                <a:rPr lang="en-US" sz="1200" dirty="0">
                  <a:solidFill>
                    <a:srgbClr val="011E2D"/>
                  </a:solidFill>
                  <a:latin typeface="Barlow"/>
                  <a:ea typeface="Barlow"/>
                  <a:cs typeface="Barlow"/>
                  <a:sym typeface="Barlow"/>
                </a:rPr>
                <a:t>UNICRI </a:t>
              </a:r>
            </a:p>
            <a:p>
              <a:pPr>
                <a:lnSpc>
                  <a:spcPts val="1680"/>
                </a:lnSpc>
                <a:spcBef>
                  <a:spcPct val="0"/>
                </a:spcBef>
              </a:pPr>
              <a:r>
                <a:rPr lang="en-US" sz="1200" dirty="0">
                  <a:solidFill>
                    <a:srgbClr val="011E2D"/>
                  </a:solidFill>
                  <a:latin typeface="Barlow"/>
                  <a:ea typeface="Barlow"/>
                  <a:cs typeface="Barlow"/>
                  <a:sym typeface="Barlow"/>
                </a:rPr>
                <a:t>UNODC </a:t>
              </a:r>
            </a:p>
            <a:p>
              <a:pPr>
                <a:lnSpc>
                  <a:spcPts val="1680"/>
                </a:lnSpc>
                <a:spcBef>
                  <a:spcPct val="0"/>
                </a:spcBef>
              </a:pPr>
              <a:r>
                <a:rPr lang="en-US" sz="1200" dirty="0">
                  <a:solidFill>
                    <a:srgbClr val="011E2D"/>
                  </a:solidFill>
                  <a:latin typeface="Barlow"/>
                  <a:ea typeface="Barlow"/>
                  <a:cs typeface="Barlow"/>
                  <a:sym typeface="Barlow"/>
                </a:rPr>
                <a:t>Vale </a:t>
              </a:r>
            </a:p>
            <a:p>
              <a:pPr>
                <a:lnSpc>
                  <a:spcPts val="1680"/>
                </a:lnSpc>
                <a:spcBef>
                  <a:spcPct val="0"/>
                </a:spcBef>
              </a:pPr>
              <a:r>
                <a:rPr lang="en-US" sz="1200" dirty="0">
                  <a:solidFill>
                    <a:srgbClr val="011E2D"/>
                  </a:solidFill>
                  <a:latin typeface="Barlow"/>
                  <a:ea typeface="Barlow"/>
                  <a:cs typeface="Barlow"/>
                  <a:sym typeface="Barlow"/>
                </a:rPr>
                <a:t>World Economic Forum </a:t>
              </a:r>
            </a:p>
            <a:p>
              <a:pPr>
                <a:lnSpc>
                  <a:spcPts val="1680"/>
                </a:lnSpc>
                <a:spcBef>
                  <a:spcPct val="0"/>
                </a:spcBef>
              </a:pPr>
              <a:r>
                <a:rPr lang="en-US" sz="1200">
                  <a:solidFill>
                    <a:srgbClr val="011E2D"/>
                  </a:solidFill>
                  <a:latin typeface="Barlow"/>
                  <a:ea typeface="Barlow"/>
                  <a:cs typeface="Barlow"/>
                  <a:sym typeface="Barlow"/>
                </a:rPr>
                <a:t>World Resources Forum </a:t>
              </a:r>
            </a:p>
          </p:txBody>
        </p:sp>
      </p:grpSp>
      <p:sp>
        <p:nvSpPr>
          <p:cNvPr id="29" name="TextBox 7">
            <a:extLst>
              <a:ext uri="{FF2B5EF4-FFF2-40B4-BE49-F238E27FC236}">
                <a16:creationId xmlns:a16="http://schemas.microsoft.com/office/drawing/2014/main" id="{9439252C-805D-EE30-9225-1AAB90C7D0E0}"/>
              </a:ext>
            </a:extLst>
          </p:cNvPr>
          <p:cNvSpPr txBox="1"/>
          <p:nvPr/>
        </p:nvSpPr>
        <p:spPr>
          <a:xfrm>
            <a:off x="10007601" y="6532870"/>
            <a:ext cx="1527051" cy="205569"/>
          </a:xfrm>
          <a:prstGeom prst="rect">
            <a:avLst/>
          </a:prstGeom>
        </p:spPr>
        <p:txBody>
          <a:bodyPr wrap="square" lIns="0" tIns="0" rIns="0" bIns="0" rtlCol="0" anchor="t">
            <a:spAutoFit/>
          </a:bodyPr>
          <a:lstStyle/>
          <a:p>
            <a:pPr algn="ctr">
              <a:lnSpc>
                <a:spcPts val="1773"/>
              </a:lnSpc>
            </a:pPr>
            <a:r>
              <a:rPr lang="en-US" sz="1266" dirty="0" err="1">
                <a:solidFill>
                  <a:srgbClr val="011E2D"/>
                </a:solidFill>
                <a:latin typeface="Barlow SemiCondensed Thin"/>
                <a:ea typeface="Barlow SemiCondensed Thin"/>
                <a:cs typeface="Barlow SemiCondensed Thin"/>
                <a:sym typeface="Barlow SemiCondensed Thin"/>
              </a:rPr>
              <a:t>responsiblesand</a:t>
            </a:r>
            <a:r>
              <a:rPr lang="en-US" sz="1266" dirty="0" err="1">
                <a:solidFill>
                  <a:srgbClr val="C9492B"/>
                </a:solidFill>
                <a:latin typeface="Barlow SemiCondensed Thin"/>
                <a:ea typeface="Barlow SemiCondensed Thin"/>
                <a:cs typeface="Barlow SemiCondensed Thin"/>
                <a:sym typeface="Barlow SemiCondensed Thin"/>
              </a:rPr>
              <a:t>.</a:t>
            </a:r>
            <a:r>
              <a:rPr lang="en-US" sz="1266" dirty="0" err="1">
                <a:solidFill>
                  <a:srgbClr val="011E2D"/>
                </a:solidFill>
                <a:latin typeface="Barlow SemiCondensed Thin"/>
                <a:ea typeface="Barlow SemiCondensed Thin"/>
                <a:cs typeface="Barlow SemiCondensed Thin"/>
                <a:sym typeface="Barlow SemiCondensed Thin"/>
              </a:rPr>
              <a:t>org</a:t>
            </a:r>
            <a:endParaRPr lang="en-US" sz="1266" dirty="0">
              <a:solidFill>
                <a:srgbClr val="011E2D"/>
              </a:solidFill>
              <a:latin typeface="Barlow SemiCondensed Thin"/>
              <a:ea typeface="Barlow SemiCondensed Thin"/>
              <a:cs typeface="Barlow SemiCondensed Thin"/>
              <a:sym typeface="Barlow SemiCondensed Thin"/>
            </a:endParaRPr>
          </a:p>
        </p:txBody>
      </p:sp>
      <p:sp>
        <p:nvSpPr>
          <p:cNvPr id="14" name="TextBox 9">
            <a:extLst>
              <a:ext uri="{FF2B5EF4-FFF2-40B4-BE49-F238E27FC236}">
                <a16:creationId xmlns:a16="http://schemas.microsoft.com/office/drawing/2014/main" id="{280CFC22-C6B1-36D0-DF3B-7CBAA6AB5342}"/>
              </a:ext>
            </a:extLst>
          </p:cNvPr>
          <p:cNvSpPr txBox="1"/>
          <p:nvPr/>
        </p:nvSpPr>
        <p:spPr>
          <a:xfrm>
            <a:off x="378599" y="2323701"/>
            <a:ext cx="3916475" cy="1026178"/>
          </a:xfrm>
          <a:prstGeom prst="rect">
            <a:avLst/>
          </a:prstGeom>
        </p:spPr>
        <p:txBody>
          <a:bodyPr wrap="square" lIns="0" tIns="0" rIns="0" bIns="0" rtlCol="0" anchor="t">
            <a:spAutoFit/>
          </a:bodyPr>
          <a:lstStyle/>
          <a:p>
            <a:pPr algn="l"/>
            <a:r>
              <a:rPr lang="en-US" sz="1667" b="1" dirty="0">
                <a:solidFill>
                  <a:srgbClr val="001D2D"/>
                </a:solidFill>
                <a:latin typeface="Barlow SemiCondensed"/>
                <a:ea typeface="Barlow SemiCondensed"/>
                <a:cs typeface="Barlow SemiCondensed"/>
                <a:sym typeface="Barlow SemiCondensed"/>
              </a:rPr>
              <a:t>The only multistakeholder platform dedicated to building a future where sand and silicate resources are sourced, used and produced responsibly</a:t>
            </a:r>
          </a:p>
        </p:txBody>
      </p:sp>
      <p:sp>
        <p:nvSpPr>
          <p:cNvPr id="19" name="TextBox 22">
            <a:extLst>
              <a:ext uri="{FF2B5EF4-FFF2-40B4-BE49-F238E27FC236}">
                <a16:creationId xmlns:a16="http://schemas.microsoft.com/office/drawing/2014/main" id="{49E21EE5-BBB1-420B-1280-4B5566C235ED}"/>
              </a:ext>
            </a:extLst>
          </p:cNvPr>
          <p:cNvSpPr txBox="1"/>
          <p:nvPr/>
        </p:nvSpPr>
        <p:spPr>
          <a:xfrm>
            <a:off x="5144768" y="984089"/>
            <a:ext cx="2657163" cy="297902"/>
          </a:xfrm>
          <a:prstGeom prst="rect">
            <a:avLst/>
          </a:prstGeom>
        </p:spPr>
        <p:txBody>
          <a:bodyPr wrap="square" lIns="0" tIns="0" rIns="0" bIns="0" rtlCol="0" anchor="t">
            <a:spAutoFit/>
          </a:bodyPr>
          <a:lstStyle/>
          <a:p>
            <a:pPr>
              <a:lnSpc>
                <a:spcPts val="2613"/>
              </a:lnSpc>
            </a:pPr>
            <a:r>
              <a:rPr lang="en-US" sz="1866" b="1" dirty="0">
                <a:solidFill>
                  <a:srgbClr val="37454F"/>
                </a:solidFill>
                <a:latin typeface="Barlow Condensed Semi-Bold"/>
                <a:ea typeface="Barlow Condensed Semi-Bold"/>
                <a:cs typeface="Barlow Condensed Semi-Bold"/>
                <a:sym typeface="Barlow Condensed Semi-Bold"/>
              </a:rPr>
              <a:t>Our first founders, July 2026</a:t>
            </a:r>
          </a:p>
        </p:txBody>
      </p:sp>
      <p:sp>
        <p:nvSpPr>
          <p:cNvPr id="4" name="AutoShape 5">
            <a:extLst>
              <a:ext uri="{FF2B5EF4-FFF2-40B4-BE49-F238E27FC236}">
                <a16:creationId xmlns:a16="http://schemas.microsoft.com/office/drawing/2014/main" id="{60304DA3-E8DD-64A3-CEA4-9CFDDE2F0D7B}"/>
              </a:ext>
            </a:extLst>
          </p:cNvPr>
          <p:cNvSpPr/>
          <p:nvPr/>
        </p:nvSpPr>
        <p:spPr>
          <a:xfrm>
            <a:off x="5712000" y="775465"/>
            <a:ext cx="6480000" cy="0"/>
          </a:xfrm>
          <a:prstGeom prst="line">
            <a:avLst/>
          </a:prstGeom>
          <a:ln w="19050" cap="flat">
            <a:solidFill>
              <a:srgbClr val="C9492B"/>
            </a:solidFill>
            <a:prstDash val="solid"/>
            <a:headEnd type="none" w="sm" len="sm"/>
            <a:tailEnd type="none" w="sm" len="sm"/>
          </a:ln>
        </p:spPr>
        <p:txBody>
          <a:bodyPr/>
          <a:lstStyle/>
          <a:p>
            <a:endParaRPr lang="en-US" sz="1200"/>
          </a:p>
        </p:txBody>
      </p:sp>
      <p:pic>
        <p:nvPicPr>
          <p:cNvPr id="35" name="Picture 34">
            <a:extLst>
              <a:ext uri="{FF2B5EF4-FFF2-40B4-BE49-F238E27FC236}">
                <a16:creationId xmlns:a16="http://schemas.microsoft.com/office/drawing/2014/main" id="{2FC0162E-AF0A-B177-D1FD-DF4CD1DA2561}"/>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592019" y="6030608"/>
            <a:ext cx="422564" cy="422564"/>
          </a:xfrm>
          <a:prstGeom prst="rect">
            <a:avLst/>
          </a:prstGeom>
        </p:spPr>
      </p:pic>
      <p:sp>
        <p:nvSpPr>
          <p:cNvPr id="30" name="Freeform 9">
            <a:extLst>
              <a:ext uri="{FF2B5EF4-FFF2-40B4-BE49-F238E27FC236}">
                <a16:creationId xmlns:a16="http://schemas.microsoft.com/office/drawing/2014/main" id="{931DB361-6864-06E6-1F1E-6E16D8BE7D0D}"/>
              </a:ext>
            </a:extLst>
          </p:cNvPr>
          <p:cNvSpPr>
            <a:spLocks noChangeAspect="1"/>
          </p:cNvSpPr>
          <p:nvPr/>
        </p:nvSpPr>
        <p:spPr>
          <a:xfrm>
            <a:off x="217244" y="404386"/>
            <a:ext cx="4710280" cy="1260000"/>
          </a:xfrm>
          <a:custGeom>
            <a:avLst/>
            <a:gdLst/>
            <a:ahLst/>
            <a:cxnLst/>
            <a:rect l="l" t="t" r="r" b="b"/>
            <a:pathLst>
              <a:path w="12130448" h="3244895">
                <a:moveTo>
                  <a:pt x="0" y="0"/>
                </a:moveTo>
                <a:lnTo>
                  <a:pt x="12130448" y="0"/>
                </a:lnTo>
                <a:lnTo>
                  <a:pt x="12130448" y="3244894"/>
                </a:lnTo>
                <a:lnTo>
                  <a:pt x="0" y="3244894"/>
                </a:lnTo>
                <a:lnTo>
                  <a:pt x="0" y="0"/>
                </a:lnTo>
                <a:close/>
              </a:path>
            </a:pathLst>
          </a:custGeom>
          <a:blipFill>
            <a:blip r:embed="rId17"/>
            <a:stretch>
              <a:fillRect/>
            </a:stretch>
          </a:blipFill>
        </p:spPr>
        <p:txBody>
          <a:bodyPr/>
          <a:lstStyle/>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331</Words>
  <Application>Microsoft Macintosh PowerPoint</Application>
  <PresentationFormat>Widescreen</PresentationFormat>
  <Paragraphs>54</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Aptos</vt:lpstr>
      <vt:lpstr>Aptos Display</vt:lpstr>
      <vt:lpstr>Arial</vt:lpstr>
      <vt:lpstr>Barlow</vt:lpstr>
      <vt:lpstr>Barlow Condensed Semi-Bold</vt:lpstr>
      <vt:lpstr>Barlow SemiCondensed</vt:lpstr>
      <vt:lpstr>Barlow SemiCondensed Thin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Louise Gallagher</dc:creator>
  <cp:lastModifiedBy>Louise Gallagher</cp:lastModifiedBy>
  <cp:revision>5</cp:revision>
  <dcterms:created xsi:type="dcterms:W3CDTF">2026-07-21T11:37:20Z</dcterms:created>
  <dcterms:modified xsi:type="dcterms:W3CDTF">2026-07-21T11:42:26Z</dcterms:modified>
</cp:coreProperties>
</file>